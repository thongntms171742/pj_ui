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7" d="100"/>
          <a:sy n="157" d="100"/>
        </p:scale>
        <p:origin x="-46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37160" cy="6858000"/>
          </a:xfrm>
          <a:prstGeom prst="rect">
            <a:avLst/>
          </a:prstGeom>
          <a:solidFill>
            <a:srgbClr val="F5C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D27D2D"/>
          </a:solidFill>
          <a:ln w="38100">
            <a:solidFill>
              <a:srgbClr val="F5C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9144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800" b="1">
                <a:solidFill>
                  <a:srgbClr val="FAF0E6"/>
                </a:solidFill>
                <a:latin typeface="Calibri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777240"/>
            <a:ext cx="73152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F5CB5C"/>
                </a:solidFill>
                <a:latin typeface="Calibri"/>
              </a:rPr>
              <a:t>thrift it!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1887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E8D5BC"/>
                </a:solidFill>
                <a:latin typeface="Calibri"/>
              </a:rPr>
              <a:t>Vintage Clothing 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109728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6400" b="1">
                <a:solidFill>
                  <a:srgbClr val="FAF0E6"/>
                </a:solidFill>
                <a:latin typeface="Calibri"/>
              </a:rPr>
              <a:t>USER 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0">
                <a:solidFill>
                  <a:srgbClr val="F5CB5C"/>
                </a:solidFill>
                <a:latin typeface="Calibri"/>
              </a:rPr>
              <a:t>Hướng dẫn sử dụng đầy đủ cho mọi đối tượng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E8D5BC"/>
                </a:solidFill>
                <a:latin typeface="Calibri"/>
              </a:rPr>
              <a:t>Giới thiệu web · Hướng dẫn người mua · Hướng dẫn người bán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120640"/>
            <a:ext cx="137160" cy="91440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F5CB5C"/>
                </a:solidFill>
                <a:latin typeface="Calibri"/>
              </a:rPr>
              <a:t>🌿  Mặc vintage, sống có tâm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53212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E8D5BC"/>
                </a:solidFill>
                <a:latin typeface="Calibri"/>
              </a:rPr>
              <a:t>Mua và bán đồ cũ — góp phần giảm thiểu rác thải thời trang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630936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E8D5BC"/>
                </a:solidFill>
                <a:latin typeface="Calibri"/>
              </a:rPr>
              <a:t>Phiên bản 1.0  ·  03/10/2026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Mục lục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Tài liệu hướng dẫn sử dụng thrift 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2 / 28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417320"/>
            <a:ext cx="640080" cy="64008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417320"/>
            <a:ext cx="91440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200" b="1">
                <a:solidFill>
                  <a:srgbClr val="3A2312"/>
                </a:solidFill>
                <a:latin typeface="Calibri"/>
              </a:rPr>
              <a:t>Giới thiệu về thrift it!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130552"/>
            <a:ext cx="640080" cy="64008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130552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130552"/>
            <a:ext cx="91440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200" b="1">
                <a:solidFill>
                  <a:srgbClr val="3A2312"/>
                </a:solidFill>
                <a:latin typeface="Calibri"/>
              </a:rPr>
              <a:t>Bắt đầu nhanh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843784"/>
            <a:ext cx="640080" cy="64008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843784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843784"/>
            <a:ext cx="91440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200" b="1">
                <a:solidFill>
                  <a:srgbClr val="3A2312"/>
                </a:solidFill>
                <a:latin typeface="Calibri"/>
              </a:rPr>
              <a:t>Hướng dẫn cho Người mua (Buyer)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557016"/>
            <a:ext cx="640080" cy="64008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557016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557016"/>
            <a:ext cx="91440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200" b="1">
                <a:solidFill>
                  <a:srgbClr val="3A2312"/>
                </a:solidFill>
                <a:latin typeface="Calibri"/>
              </a:rPr>
              <a:t>Hướng dẫn cho Người bán (Seller)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270248"/>
            <a:ext cx="640080" cy="64008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270248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270248"/>
            <a:ext cx="91440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200" b="1">
                <a:solidFill>
                  <a:srgbClr val="3A2312"/>
                </a:solidFill>
                <a:latin typeface="Calibri"/>
              </a:rPr>
              <a:t>Hướng dẫn cho Quản trị viên (Admin)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983480"/>
            <a:ext cx="640080" cy="64008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983480"/>
            <a:ext cx="91440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200" b="1">
                <a:solidFill>
                  <a:srgbClr val="3A2312"/>
                </a:solidFill>
                <a:latin typeface="Calibri"/>
              </a:rPr>
              <a:t>Câu hỏi thường gặp (FAQ)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696712"/>
            <a:ext cx="640080" cy="64008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696712"/>
            <a:ext cx="6400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696712"/>
            <a:ext cx="91440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200" b="1">
                <a:solidFill>
                  <a:srgbClr val="3A2312"/>
                </a:solidFill>
                <a:latin typeface="Calibri"/>
              </a:rPr>
              <a:t>Liên hệ &amp; Hỗ trợ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CB5C"/>
                </a:solidFill>
                <a:latin typeface="Calibri"/>
              </a:rPr>
              <a:t>PHẦN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>
                <a:solidFill>
                  <a:srgbClr val="FAF0E6"/>
                </a:solidFill>
                <a:latin typeface="Calibri"/>
              </a:rPr>
              <a:t>Giới thiệu về thrift 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097280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 dirty="0" err="1">
                <a:solidFill>
                  <a:srgbClr val="F5CB5C"/>
                </a:solidFill>
                <a:latin typeface="Calibri"/>
              </a:rPr>
              <a:t>Sàn</a:t>
            </a:r>
            <a:r>
              <a:rPr sz="2000" b="0" dirty="0">
                <a:solidFill>
                  <a:srgbClr val="F5CB5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5CB5C"/>
                </a:solidFill>
                <a:latin typeface="Calibri"/>
              </a:rPr>
              <a:t>thương</a:t>
            </a:r>
            <a:r>
              <a:rPr sz="2000" b="0" dirty="0">
                <a:solidFill>
                  <a:srgbClr val="F5CB5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5CB5C"/>
                </a:solidFill>
                <a:latin typeface="Calibri"/>
              </a:rPr>
              <a:t>mại</a:t>
            </a:r>
            <a:r>
              <a:rPr sz="2000" b="0" dirty="0">
                <a:solidFill>
                  <a:srgbClr val="F5CB5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5CB5C"/>
                </a:solidFill>
                <a:latin typeface="Calibri"/>
              </a:rPr>
              <a:t>điện</a:t>
            </a:r>
            <a:r>
              <a:rPr sz="2000" b="0" dirty="0">
                <a:solidFill>
                  <a:srgbClr val="F5CB5C"/>
                </a:solidFill>
                <a:latin typeface="Calibri"/>
              </a:rPr>
              <a:t> </a:t>
            </a:r>
            <a:r>
              <a:rPr sz="2000" b="0" dirty="0" err="1" smtClean="0">
                <a:solidFill>
                  <a:srgbClr val="F5CB5C"/>
                </a:solidFill>
                <a:latin typeface="Calibri"/>
              </a:rPr>
              <a:t>tử</a:t>
            </a:r>
            <a:r>
              <a:rPr sz="2000" b="0" dirty="0" smtClean="0">
                <a:solidFill>
                  <a:srgbClr val="F5CB5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5CB5C"/>
                </a:solidFill>
                <a:latin typeface="Calibri"/>
              </a:rPr>
              <a:t>thời</a:t>
            </a:r>
            <a:r>
              <a:rPr sz="2000" b="0" dirty="0">
                <a:solidFill>
                  <a:srgbClr val="F5CB5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5CB5C"/>
                </a:solidFill>
                <a:latin typeface="Calibri"/>
              </a:rPr>
              <a:t>trang</a:t>
            </a:r>
            <a:r>
              <a:rPr sz="2000" b="0" dirty="0">
                <a:solidFill>
                  <a:srgbClr val="F5CB5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5CB5C"/>
                </a:solidFill>
                <a:latin typeface="Calibri"/>
              </a:rPr>
              <a:t>cũ</a:t>
            </a:r>
            <a:r>
              <a:rPr sz="2000" b="0" dirty="0">
                <a:solidFill>
                  <a:srgbClr val="F5CB5C"/>
                </a:solidFill>
                <a:latin typeface="Calibri"/>
              </a:rPr>
              <a:t> </a:t>
            </a:r>
            <a:r>
              <a:rPr lang="vi-VN" sz="2000" dirty="0">
                <a:solidFill>
                  <a:srgbClr val="F5CB5C"/>
                </a:solidFill>
                <a:latin typeface="Calibri"/>
              </a:rPr>
              <a:t>tại</a:t>
            </a:r>
            <a:r>
              <a:rPr sz="2000" b="0" dirty="0" smtClean="0">
                <a:solidFill>
                  <a:srgbClr val="F5CB5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5CB5C"/>
                </a:solidFill>
                <a:latin typeface="Calibri"/>
              </a:rPr>
              <a:t>Việt</a:t>
            </a:r>
            <a:r>
              <a:rPr sz="2000" b="0" dirty="0">
                <a:solidFill>
                  <a:srgbClr val="F5CB5C"/>
                </a:solidFill>
                <a:latin typeface="Calibri"/>
              </a:rPr>
              <a:t> Nam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828800" cy="4572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thrift it! là gì?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Sàn C2C kết nối người mua &amp; người bán đồ vintage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943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D27D2D"/>
                </a:solidFill>
                <a:latin typeface="Calibri"/>
              </a:rPr>
              <a:t>Định nghĩa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943600" cy="132959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dirty="0" err="1">
                <a:solidFill>
                  <a:srgbClr val="3A2312"/>
                </a:solidFill>
                <a:latin typeface="Calibri"/>
              </a:rPr>
              <a:t>Sàn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thương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mại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điện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tử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C2C (Consumer-to-Consumer)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chuyên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về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thời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trang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cũ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/ vintage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tại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Việt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Nam.</a:t>
            </a:r>
          </a:p>
          <a:p>
            <a:pPr algn="l"/>
            <a:endParaRPr sz="1400" b="0" dirty="0">
              <a:solidFill>
                <a:srgbClr val="3A2312"/>
              </a:solidFill>
              <a:latin typeface="Calibri"/>
            </a:endParaRPr>
          </a:p>
          <a:p>
            <a:pPr algn="l"/>
            <a:r>
              <a:rPr sz="1400" b="0" dirty="0" err="1">
                <a:solidFill>
                  <a:srgbClr val="3A2312"/>
                </a:solidFill>
                <a:latin typeface="Calibri"/>
              </a:rPr>
              <a:t>Kết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nối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trực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tiếp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giữa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:</a:t>
            </a:r>
          </a:p>
          <a:p>
            <a:pPr algn="l"/>
            <a:r>
              <a:rPr sz="1400" b="0" dirty="0">
                <a:solidFill>
                  <a:srgbClr val="3A2312"/>
                </a:solidFill>
                <a:latin typeface="Calibri"/>
              </a:rPr>
              <a:t>•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Người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mua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—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tìm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đồ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vintage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phong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cách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riêng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giá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hợp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lý</a:t>
            </a:r>
            <a:endParaRPr sz="1400" b="0" dirty="0">
              <a:solidFill>
                <a:srgbClr val="3A2312"/>
              </a:solidFill>
              <a:latin typeface="Calibri"/>
            </a:endParaRPr>
          </a:p>
          <a:p>
            <a:pPr algn="l"/>
            <a:r>
              <a:rPr sz="1400" b="0" dirty="0">
                <a:solidFill>
                  <a:srgbClr val="3A2312"/>
                </a:solidFill>
                <a:latin typeface="Calibri"/>
              </a:rPr>
              <a:t>•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Người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bán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—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cá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nhân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hoặc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shop </a:t>
            </a:r>
            <a:r>
              <a:rPr sz="1400" b="0" dirty="0" err="1">
                <a:solidFill>
                  <a:srgbClr val="3A2312"/>
                </a:solidFill>
                <a:latin typeface="Calibri"/>
              </a:rPr>
              <a:t>thanh</a:t>
            </a:r>
            <a:r>
              <a:rPr sz="14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400" b="0" dirty="0" err="1" smtClean="0">
                <a:solidFill>
                  <a:srgbClr val="3A2312"/>
                </a:solidFill>
                <a:latin typeface="Calibri"/>
              </a:rPr>
              <a:t>lý</a:t>
            </a:r>
            <a:endParaRPr sz="1400" b="0" dirty="0">
              <a:solidFill>
                <a:srgbClr val="3A2312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5943600" cy="1463040"/>
          </a:xfrm>
          <a:prstGeom prst="rect">
            <a:avLst/>
          </a:prstGeom>
          <a:solidFill>
            <a:srgbClr val="F7ECE0"/>
          </a:solidFill>
          <a:ln w="19050">
            <a:solidFill>
              <a:srgbClr val="D2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5577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D27D2D"/>
                </a:solidFill>
                <a:latin typeface="Calibri"/>
              </a:rPr>
              <a:t>🌿  Sứ mệnh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557784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3A2312"/>
                </a:solidFill>
                <a:latin typeface="Calibri"/>
              </a:rPr>
              <a:t>“Mặc vintage, sống có tâm — Mua và bán đồ cũ, góp phần giảm thiểu rác thải thời trang.”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7984" y="128016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dirty="0" err="1">
                <a:solidFill>
                  <a:srgbClr val="D27D2D"/>
                </a:solidFill>
                <a:latin typeface="Calibri"/>
              </a:rPr>
              <a:t>Tính</a:t>
            </a:r>
            <a:r>
              <a:rPr sz="1400" b="1" dirty="0">
                <a:solidFill>
                  <a:srgbClr val="D27D2D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27D2D"/>
                </a:solidFill>
                <a:latin typeface="Calibri"/>
              </a:rPr>
              <a:t>năng</a:t>
            </a:r>
            <a:r>
              <a:rPr sz="1400" b="1" dirty="0">
                <a:solidFill>
                  <a:srgbClr val="D27D2D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27D2D"/>
                </a:solidFill>
                <a:latin typeface="Calibri"/>
              </a:rPr>
              <a:t>nổi</a:t>
            </a:r>
            <a:r>
              <a:rPr sz="1400" b="1" dirty="0">
                <a:solidFill>
                  <a:srgbClr val="D27D2D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27D2D"/>
                </a:solidFill>
                <a:latin typeface="Calibri"/>
              </a:rPr>
              <a:t>bật</a:t>
            </a:r>
            <a:endParaRPr sz="1400" b="1" dirty="0">
              <a:solidFill>
                <a:srgbClr val="D27D2D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77984" y="1691640"/>
            <a:ext cx="493776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dirty="0">
                <a:solidFill>
                  <a:srgbClr val="D27D2D"/>
                </a:solidFill>
                <a:latin typeface="Calibri"/>
              </a:rPr>
              <a:t>●  </a:t>
            </a:r>
            <a:r>
              <a:rPr sz="1200" dirty="0">
                <a:solidFill>
                  <a:srgbClr val="3A2312"/>
                </a:solidFill>
                <a:latin typeface="Calibri"/>
              </a:rPr>
              <a:t>AI Smart Search —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tìm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kiếm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ngữ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nghĩa</a:t>
            </a:r>
            <a:endParaRPr sz="1200" dirty="0">
              <a:solidFill>
                <a:srgbClr val="3A2312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dirty="0">
                <a:solidFill>
                  <a:srgbClr val="D27D2D"/>
                </a:solidFill>
                <a:latin typeface="Calibri"/>
              </a:rPr>
              <a:t>● 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Sổ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địa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chỉ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CAS — 2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cấp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hành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chính</a:t>
            </a:r>
            <a:endParaRPr sz="1200" dirty="0">
              <a:solidFill>
                <a:srgbClr val="3A2312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dirty="0">
                <a:solidFill>
                  <a:srgbClr val="D27D2D"/>
                </a:solidFill>
                <a:latin typeface="Calibri"/>
              </a:rPr>
              <a:t>● 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Thanh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toán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COD —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không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cần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cổng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phức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tạp</a:t>
            </a:r>
            <a:endParaRPr sz="1200" dirty="0">
              <a:solidFill>
                <a:srgbClr val="3A2312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dirty="0">
                <a:solidFill>
                  <a:srgbClr val="D27D2D"/>
                </a:solidFill>
                <a:latin typeface="Calibri"/>
              </a:rPr>
              <a:t>●  </a:t>
            </a:r>
            <a:r>
              <a:rPr sz="1200" dirty="0">
                <a:solidFill>
                  <a:srgbClr val="3A2312"/>
                </a:solidFill>
                <a:latin typeface="Calibri"/>
              </a:rPr>
              <a:t>Theo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dõi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vận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đơn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GHTK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realtime</a:t>
            </a:r>
            <a:endParaRPr sz="1200" dirty="0">
              <a:solidFill>
                <a:srgbClr val="3A2312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Công nghệ &amp; Bảo mật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Stack hiện đại, bảo mật chuẩn ngân hàng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5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3657600" cy="54864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34747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React + TypeScript (Vite)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Tailwind CSS + theme vintage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React Router v6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HTTP client với JWT interceptor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State: React hooks + localStorage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3657600" cy="54864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41732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34747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dirty="0">
                <a:solidFill>
                  <a:srgbClr val="6F4E37"/>
                </a:solidFill>
                <a:latin typeface="Calibri"/>
              </a:rPr>
              <a:t>●  </a:t>
            </a:r>
            <a:r>
              <a:rPr sz="1200" dirty="0">
                <a:solidFill>
                  <a:srgbClr val="3A2312"/>
                </a:solidFill>
                <a:latin typeface="Calibri"/>
              </a:rPr>
              <a:t>Express +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TypeScript</a:t>
            </a:r>
            <a:endParaRPr sz="1200" dirty="0">
              <a:solidFill>
                <a:srgbClr val="3A2312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dirty="0">
                <a:solidFill>
                  <a:srgbClr val="6F4E37"/>
                </a:solidFill>
                <a:latin typeface="Calibri"/>
              </a:rPr>
              <a:t>● 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MongoDB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Atlas (Mongoose ODM)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dirty="0">
                <a:solidFill>
                  <a:srgbClr val="6F4E37"/>
                </a:solidFill>
                <a:latin typeface="Calibri"/>
              </a:rPr>
              <a:t>●  </a:t>
            </a:r>
            <a:r>
              <a:rPr sz="1200" dirty="0">
                <a:solidFill>
                  <a:srgbClr val="3A2312"/>
                </a:solidFill>
                <a:latin typeface="Calibri"/>
              </a:rPr>
              <a:t>JWT (HS256) +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bcrypt</a:t>
            </a:r>
            <a:endParaRPr sz="1200" dirty="0">
              <a:solidFill>
                <a:srgbClr val="3A2312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dirty="0">
                <a:solidFill>
                  <a:srgbClr val="6F4E37"/>
                </a:solidFill>
                <a:latin typeface="Calibri"/>
              </a:rPr>
              <a:t>●  </a:t>
            </a:r>
            <a:r>
              <a:rPr sz="1200" dirty="0">
                <a:solidFill>
                  <a:srgbClr val="3A2312"/>
                </a:solidFill>
                <a:latin typeface="Calibri"/>
              </a:rPr>
              <a:t>Order State Machine 11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bước</a:t>
            </a:r>
            <a:endParaRPr sz="1200" dirty="0">
              <a:solidFill>
                <a:srgbClr val="3A2312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dirty="0">
                <a:solidFill>
                  <a:srgbClr val="6F4E37"/>
                </a:solidFill>
                <a:latin typeface="Calibri"/>
              </a:rPr>
              <a:t>●  </a:t>
            </a:r>
            <a:r>
              <a:rPr sz="1200" dirty="0">
                <a:solidFill>
                  <a:srgbClr val="3A2312"/>
                </a:solidFill>
                <a:latin typeface="Calibri"/>
              </a:rPr>
              <a:t>Audit trail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toàn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bộ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lịch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sử</a:t>
            </a:r>
            <a:endParaRPr sz="1200" dirty="0">
              <a:solidFill>
                <a:srgbClr val="3A2312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3657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3657600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417320"/>
            <a:ext cx="3657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Tích hợp bên thứ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4747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dirty="0">
                <a:solidFill>
                  <a:srgbClr val="27AE60"/>
                </a:solidFill>
                <a:latin typeface="Calibri"/>
              </a:rPr>
              <a:t>●  </a:t>
            </a:r>
            <a:r>
              <a:rPr sz="1200" dirty="0">
                <a:solidFill>
                  <a:srgbClr val="3A2312"/>
                </a:solidFill>
                <a:latin typeface="Calibri"/>
              </a:rPr>
              <a:t>CAS Address Kit (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Tỉnh</a:t>
            </a:r>
            <a:r>
              <a:rPr sz="1200" dirty="0">
                <a:solidFill>
                  <a:srgbClr val="3A2312"/>
                </a:solidFill>
                <a:latin typeface="Calibri"/>
              </a:rPr>
              <a:t>/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Phường</a:t>
            </a:r>
            <a:r>
              <a:rPr sz="1200" dirty="0">
                <a:solidFill>
                  <a:srgbClr val="3A2312"/>
                </a:solidFill>
                <a:latin typeface="Calibri"/>
              </a:rPr>
              <a:t>/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Xã</a:t>
            </a:r>
            <a:r>
              <a:rPr sz="1200" dirty="0">
                <a:solidFill>
                  <a:srgbClr val="3A2312"/>
                </a:solidFill>
                <a:latin typeface="Calibri"/>
              </a:rPr>
              <a:t>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dirty="0">
                <a:solidFill>
                  <a:srgbClr val="27AE60"/>
                </a:solidFill>
                <a:latin typeface="Calibri"/>
              </a:rPr>
              <a:t>●  </a:t>
            </a:r>
            <a:r>
              <a:rPr sz="1200" dirty="0">
                <a:solidFill>
                  <a:srgbClr val="3A2312"/>
                </a:solidFill>
                <a:latin typeface="Calibri"/>
              </a:rPr>
              <a:t>GHTK —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Vận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chuyển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Giao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Hàng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Tiết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Kiệm</a:t>
            </a:r>
            <a:endParaRPr sz="1200" dirty="0">
              <a:solidFill>
                <a:srgbClr val="3A2312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dirty="0">
                <a:solidFill>
                  <a:srgbClr val="27AE60"/>
                </a:solidFill>
                <a:latin typeface="Calibri"/>
              </a:rPr>
              <a:t>●  </a:t>
            </a:r>
            <a:r>
              <a:rPr sz="1200" dirty="0">
                <a:solidFill>
                  <a:srgbClr val="3A2312"/>
                </a:solidFill>
                <a:latin typeface="Calibri"/>
              </a:rPr>
              <a:t>AI Search — semantic search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dirty="0">
                <a:solidFill>
                  <a:srgbClr val="27AE60"/>
                </a:solidFill>
                <a:latin typeface="Calibri"/>
              </a:rPr>
              <a:t>●  </a:t>
            </a:r>
            <a:r>
              <a:rPr sz="1200" dirty="0">
                <a:solidFill>
                  <a:srgbClr val="3A2312"/>
                </a:solidFill>
                <a:latin typeface="Calibri"/>
              </a:rPr>
              <a:t>AI Analyze Listing —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gợi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ý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giá</a:t>
            </a:r>
            <a:endParaRPr sz="1200" dirty="0">
              <a:solidFill>
                <a:srgbClr val="3A2312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 dirty="0">
                <a:solidFill>
                  <a:srgbClr val="27AE60"/>
                </a:solidFill>
                <a:latin typeface="Calibri"/>
              </a:rPr>
              <a:t>●  </a:t>
            </a:r>
            <a:r>
              <a:rPr sz="1200" dirty="0">
                <a:solidFill>
                  <a:srgbClr val="3A2312"/>
                </a:solidFill>
                <a:latin typeface="Calibri"/>
              </a:rPr>
              <a:t>Ledger —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kế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A2312"/>
                </a:solidFill>
                <a:latin typeface="Calibri"/>
              </a:rPr>
              <a:t>toán</a:t>
            </a:r>
            <a:r>
              <a:rPr sz="1200" dirty="0">
                <a:solidFill>
                  <a:srgbClr val="3A2312"/>
                </a:solidFill>
                <a:latin typeface="Calibri"/>
              </a:rPr>
              <a:t> double-entry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CB5C"/>
                </a:solidFill>
                <a:latin typeface="Calibri"/>
              </a:rPr>
              <a:t>PHẦN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>
                <a:solidFill>
                  <a:srgbClr val="FAF0E6"/>
                </a:solidFill>
                <a:latin typeface="Calibri"/>
              </a:rPr>
              <a:t>Bắt đầu nhanh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>
                <a:solidFill>
                  <a:srgbClr val="F5CB5C"/>
                </a:solidFill>
                <a:latin typeface="Calibri"/>
              </a:rPr>
              <a:t>Đăng ký, đăng nhập, tài khoản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828800" cy="4572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Đăng ký tài khoản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Bắt đầu hành trình mua sắm vintage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D27D2D"/>
                </a:solidFill>
                <a:latin typeface="Calibri"/>
              </a:rPr>
              <a:t>Các bước đăng ký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737360"/>
            <a:ext cx="59436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>
                <a:solidFill>
                  <a:srgbClr val="3A2312"/>
                </a:solidFill>
                <a:latin typeface="Calibri"/>
              </a:rPr>
              <a:t>Truy cập trang chủ → nhấn “Đăng ký tài khoản mới” (góc phải trên)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68880"/>
            <a:ext cx="59436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>
                <a:solidFill>
                  <a:srgbClr val="3A2312"/>
                </a:solidFill>
                <a:latin typeface="Calibri"/>
              </a:rPr>
              <a:t>Điền: Họ tên, Email, Số điện thoại (10 số), Mật khẩu (≥ 6 ký tự), Xác nhận mật khẩu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00400"/>
            <a:ext cx="59436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>
                <a:solidFill>
                  <a:srgbClr val="3A2312"/>
                </a:solidFill>
                <a:latin typeface="Calibri"/>
              </a:rPr>
              <a:t>Nhấn “Đăng Ký”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31920"/>
            <a:ext cx="59436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>
                <a:solidFill>
                  <a:srgbClr val="3A2312"/>
                </a:solidFill>
                <a:latin typeface="Calibri"/>
              </a:rPr>
              <a:t>Hệ thống tự động đăng nhập &amp; chuyển về Trang chủ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280160"/>
            <a:ext cx="4297680" cy="5029200"/>
          </a:xfrm>
          <a:prstGeom prst="rect">
            <a:avLst/>
          </a:prstGeom>
          <a:solidFill>
            <a:srgbClr val="F7ECE0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1280160"/>
            <a:ext cx="4297680" cy="50292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79" y="1280160"/>
            <a:ext cx="42976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Đăng nhập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1920240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Nhập Email + Mật khẩu → Enter hoặc bấm nút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377440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D27D2D"/>
                </a:solidFill>
                <a:latin typeface="Calibri"/>
              </a:rPr>
              <a:t>Hệ thống tự động: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743200"/>
            <a:ext cx="402336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Lưu JWT token vào localStorage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Gộp giỏ hàng tạm vào tài khoản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Admin → chuyển Bảng quản trị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Buyer/Seller → về Trang chủ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852160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6F4E37"/>
                </a:solidFill>
                <a:latin typeface="Calibri"/>
              </a:rPr>
              <a:t>Đăng xuất: Tài khoản → Đăng xuất (nút đỏ)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Tài khoản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Dành cho môi trường dev /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D27D2D"/>
                </a:solidFill>
                <a:latin typeface="Calibri"/>
              </a:rPr>
              <a:t>Các tài khoản có sẵn trong seed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7432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Vai trò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53035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828800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Mật khẩu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solidFill>
            <a:srgbClr val="FAF0E6"/>
          </a:solidFill>
          <a:ln w="635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27432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3A2312"/>
                </a:solidFill>
                <a:latin typeface="Calibri"/>
              </a:rPr>
              <a:t>🛒  Buyer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62731"/>
            <a:ext cx="530352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vi-VN" sz="1400" b="0" dirty="0" smtClean="0">
                <a:solidFill>
                  <a:srgbClr val="3A2312"/>
                </a:solidFill>
                <a:latin typeface="Calibri"/>
              </a:rPr>
              <a:t>buyerdemo@thriftit.vn</a:t>
            </a:r>
            <a:endParaRPr sz="1400" b="0" dirty="0">
              <a:solidFill>
                <a:srgbClr val="3A2312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0" y="2468880"/>
            <a:ext cx="3200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D27D2D"/>
                </a:solidFill>
                <a:latin typeface="Consolas"/>
              </a:rPr>
              <a:t>123456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108960"/>
            <a:ext cx="27432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3A2312"/>
                </a:solidFill>
                <a:latin typeface="Calibri"/>
              </a:rPr>
              <a:t>🏪  Seller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302811"/>
            <a:ext cx="530352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 dirty="0" smtClean="0">
                <a:solidFill>
                  <a:srgbClr val="3A2312"/>
                </a:solidFill>
                <a:latin typeface="Calibri"/>
              </a:rPr>
              <a:t>s</a:t>
            </a:r>
            <a:r>
              <a:rPr lang="vi-VN" sz="1400" b="0" dirty="0" smtClean="0">
                <a:solidFill>
                  <a:srgbClr val="3A2312"/>
                </a:solidFill>
                <a:latin typeface="Calibri"/>
              </a:rPr>
              <a:t>ellerdemoo</a:t>
            </a:r>
            <a:r>
              <a:rPr sz="1400" b="0" dirty="0" smtClean="0">
                <a:solidFill>
                  <a:srgbClr val="3A2312"/>
                </a:solidFill>
                <a:latin typeface="Calibri"/>
              </a:rPr>
              <a:t>@thriftit.vn</a:t>
            </a:r>
            <a:endParaRPr sz="1400" b="0" dirty="0">
              <a:solidFill>
                <a:srgbClr val="3A2312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0" y="3302811"/>
            <a:ext cx="320040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vi-VN" sz="1400" b="1" dirty="0" smtClean="0">
                <a:solidFill>
                  <a:srgbClr val="D27D2D"/>
                </a:solidFill>
                <a:latin typeface="Consolas"/>
              </a:rPr>
              <a:t>1</a:t>
            </a:r>
            <a:r>
              <a:rPr sz="1400" b="1" dirty="0" smtClean="0">
                <a:solidFill>
                  <a:srgbClr val="D27D2D"/>
                </a:solidFill>
                <a:latin typeface="Consolas"/>
              </a:rPr>
              <a:t>23</a:t>
            </a:r>
            <a:r>
              <a:rPr lang="vi-VN" sz="1400" b="1" dirty="0" smtClean="0">
                <a:solidFill>
                  <a:srgbClr val="D27D2D"/>
                </a:solidFill>
                <a:latin typeface="Consolas"/>
              </a:rPr>
              <a:t>456</a:t>
            </a:r>
            <a:endParaRPr sz="1400" b="1" dirty="0">
              <a:solidFill>
                <a:srgbClr val="D27D2D"/>
              </a:solidFill>
              <a:latin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3749040"/>
            <a:ext cx="27432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3A2312"/>
                </a:solidFill>
                <a:latin typeface="Calibri"/>
              </a:rPr>
              <a:t>🛡️  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749040"/>
            <a:ext cx="53035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3A2312"/>
                </a:solidFill>
                <a:latin typeface="Calibri"/>
              </a:rPr>
              <a:t>admin@thriftit.vn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942891"/>
            <a:ext cx="320040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dirty="0" smtClean="0">
                <a:solidFill>
                  <a:srgbClr val="D27D2D"/>
                </a:solidFill>
                <a:latin typeface="Consolas"/>
              </a:rPr>
              <a:t>admin</a:t>
            </a:r>
            <a:r>
              <a:rPr lang="vi-VN" sz="1400" b="1" dirty="0" smtClean="0">
                <a:solidFill>
                  <a:srgbClr val="D27D2D"/>
                </a:solidFill>
                <a:latin typeface="Consolas"/>
              </a:rPr>
              <a:t>123</a:t>
            </a:r>
            <a:endParaRPr sz="1400" b="1" dirty="0">
              <a:solidFill>
                <a:srgbClr val="D27D2D"/>
              </a:solidFill>
              <a:latin typeface="Consola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CB5C"/>
                </a:solidFill>
                <a:latin typeface="Calibri"/>
              </a:rPr>
              <a:t>PHẦN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>
                <a:solidFill>
                  <a:srgbClr val="FAF0E6"/>
                </a:solidFill>
                <a:latin typeface="Calibri"/>
              </a:rPr>
              <a:t>Hướng dẫn cho Người mua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>
                <a:solidFill>
                  <a:srgbClr val="F5CB5C"/>
                </a:solidFill>
                <a:latin typeface="Calibri"/>
              </a:rPr>
              <a:t>Khám phá sản phẩm · Đặt hàng · Theo dõi vận đơn · Đánh giá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828800" cy="4572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Các trang người mua hay dùng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Tổng quan 8 trang chính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10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2743200" cy="41148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325880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Trang chủ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6F4E37"/>
                </a:solidFill>
                <a:latin typeface="Consolas"/>
              </a:rPr>
              <a:t>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94560"/>
            <a:ext cx="256032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Khám phá sản phẩm, danh mục, shop nổi bật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2588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2743200" cy="41148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325880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Tìm kiếm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783080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6F4E37"/>
                </a:solidFill>
                <a:latin typeface="Consolas"/>
              </a:rPr>
              <a:t>/products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194560"/>
            <a:ext cx="256032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Tìm &amp; lọc theo danh mục, size, giá…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32588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1325880"/>
            <a:ext cx="2743200" cy="41148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1325880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Chi tiết 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783080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6F4E37"/>
                </a:solidFill>
                <a:latin typeface="Consolas"/>
              </a:rPr>
              <a:t>/products/:id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194560"/>
            <a:ext cx="256032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Ảnh, mô tả, shop bán, đánh giá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32588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52560" y="1325880"/>
            <a:ext cx="2743200" cy="41148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0" y="1325880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Trang Shop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783080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6F4E37"/>
                </a:solidFill>
                <a:latin typeface="Consolas"/>
              </a:rPr>
              <a:t>/sellers/:handle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194560"/>
            <a:ext cx="256032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Toàn bộ SP + đánh giá của 1 shop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88620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1480" y="3886200"/>
            <a:ext cx="2743200" cy="41148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3886200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Giỏ hàng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43400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6F4E37"/>
                </a:solidFill>
                <a:latin typeface="Consolas"/>
              </a:rPr>
              <a:t>/cart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754880"/>
            <a:ext cx="256032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Quản lý SP đã chọn, áp mã giảm giá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388620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91840" y="3886200"/>
            <a:ext cx="2743200" cy="41148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91840" y="3886200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Thanh toán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343400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6F4E37"/>
                </a:solidFill>
                <a:latin typeface="Consolas"/>
              </a:rPr>
              <a:t>/checkout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754880"/>
            <a:ext cx="256032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Nhập địa chỉ, đặt hàng COD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388620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72200" y="3886200"/>
            <a:ext cx="2743200" cy="41148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72200" y="3886200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Tài khoản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343400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6F4E37"/>
                </a:solidFill>
                <a:latin typeface="Consolas"/>
              </a:rPr>
              <a:t>/account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754880"/>
            <a:ext cx="256032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Đơn mua, sổ địa chỉ, tin nhắn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388620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052560" y="3886200"/>
            <a:ext cx="2743200" cy="41148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52560" y="3886200"/>
            <a:ext cx="27432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Thông báo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343400"/>
            <a:ext cx="2560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6F4E37"/>
                </a:solidFill>
                <a:latin typeface="Consolas"/>
              </a:rPr>
              <a:t>/notifications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754880"/>
            <a:ext cx="256032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Trạng thái đơn, tin từ shop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Trang chủ — Khám phá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URL: 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11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146304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>
                <a:solidFill>
                  <a:srgbClr val="FAF0E6"/>
                </a:solidFill>
                <a:latin typeface="Calibri"/>
              </a:rPr>
              <a:t>Mặc vintage, sống có tâm 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Mua và bán đồ cũ — góp phần giảm thiểu rác thải thời trang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1645920" cy="32004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164592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Khám phá ngay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D27D2D"/>
                </a:solidFill>
                <a:latin typeface="Calibri"/>
              </a:rPr>
              <a:t>Danh mục nổi bật (6 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0">
                <a:solidFill>
                  <a:srgbClr val="3A2312"/>
                </a:solidFill>
                <a:latin typeface="Calibri"/>
              </a:rPr>
              <a:t>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3A2312"/>
                </a:solidFill>
                <a:latin typeface="Calibri"/>
              </a:rPr>
              <a:t>Tất cả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50008" y="333756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50008" y="338328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0">
                <a:solidFill>
                  <a:srgbClr val="3A2312"/>
                </a:solidFill>
                <a:latin typeface="Calibri"/>
              </a:rPr>
              <a:t>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0008" y="3886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3A2312"/>
                </a:solidFill>
                <a:latin typeface="Calibri"/>
              </a:rPr>
              <a:t>Áo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42816" y="333756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42816" y="338328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0">
                <a:solidFill>
                  <a:srgbClr val="3A2312"/>
                </a:solidFill>
                <a:latin typeface="Calibri"/>
              </a:rPr>
              <a:t>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16" y="3886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3A2312"/>
                </a:solidFill>
                <a:latin typeface="Calibri"/>
              </a:rPr>
              <a:t>Quần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35624" y="333756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35624" y="338328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0">
                <a:solidFill>
                  <a:srgbClr val="3A2312"/>
                </a:solidFill>
                <a:latin typeface="Calibri"/>
              </a:rPr>
              <a:t>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5624" y="3886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3A2312"/>
                </a:solidFill>
                <a:latin typeface="Calibri"/>
              </a:rPr>
              <a:t>Váy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432" y="333756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28432" y="338328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0">
                <a:solidFill>
                  <a:srgbClr val="3A2312"/>
                </a:solidFill>
                <a:latin typeface="Calibri"/>
              </a:rPr>
              <a:t>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2" y="3886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3A2312"/>
                </a:solidFill>
                <a:latin typeface="Calibri"/>
              </a:rPr>
              <a:t>Áo khoác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333756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21240" y="338328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0">
                <a:solidFill>
                  <a:srgbClr val="3A2312"/>
                </a:solidFill>
                <a:latin typeface="Calibri"/>
              </a:rPr>
              <a:t>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3886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3A2312"/>
                </a:solidFill>
                <a:latin typeface="Calibri"/>
              </a:rPr>
              <a:t>Phụ kiện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D27D2D"/>
                </a:solidFill>
                <a:latin typeface="Calibri"/>
              </a:rPr>
              <a:t>Sản phẩm mới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749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Grid responsive 2 → 6 cột, hiển thị tất cả sản phẩm đang active.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7784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D27D2D"/>
                </a:solidFill>
                <a:latin typeface="Calibri"/>
              </a:rPr>
              <a:t>Gợi ý Shop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 err="1">
                <a:solidFill>
                  <a:srgbClr val="3A2312"/>
                </a:solidFill>
                <a:latin typeface="Calibri"/>
              </a:rPr>
              <a:t>Các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shop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được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đánh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giá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cao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trong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cộng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đồng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Tìm kiếm &amp; Bộ lọc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URL: /products  ·  3 chế độ: Text, AI, Lọc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12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3657600" cy="50292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🔍  Tìm bằng từ khóa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338328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Ô search trên Header (luôn hiển thị)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Tìm theo tên / danh mục / tên shop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Nhấn Enter để submit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4173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3657600" cy="50292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141732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🤖  AI Smart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057400"/>
            <a:ext cx="338328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6F4E37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Bật toggle 'AI' trong Filter Sidebar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6F4E37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Gõ câu mô tả tự nhiên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6F4E37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VD: 'áo dạ retro cho mùa thu'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6F4E37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AI phân tích ngữ nghĩa — ~600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3657600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141732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⚙️  Bộ lọc nâng cao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057400"/>
            <a:ext cx="338328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Danh mục: Áo / Quần / Váy / Áo khoác / Phụ kiện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Size: XS, S, M, L, XL, XXL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Khoảng giá: Từ ₫ → Đến ₫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Độ mới: 30% – 100% (slider)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Đánh giá shop: ⭐ 4+ / 4.5+ trở lên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D27D2D"/>
                </a:solidFill>
                <a:latin typeface="Calibri"/>
              </a:rPr>
              <a:t>Sắp xếp: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126480"/>
            <a:ext cx="10515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Mới nhất (mặc định)  ·  Giá tăng/giảm  ·  Độ mới cao nhất  ·  Nổi bật nhất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Chi tiết sản phẩm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URL: /products/:id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13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45720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4572000" cy="3200400"/>
          </a:xfrm>
          <a:prstGeom prst="rect">
            <a:avLst/>
          </a:prstGeom>
          <a:solidFill>
            <a:srgbClr val="F7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4572000" cy="3200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0">
                <a:solidFill>
                  <a:srgbClr val="6F4E37"/>
                </a:solidFill>
                <a:latin typeface="Calibri"/>
              </a:rPr>
              <a:t>[ Gallery ảnh sản phẩm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17720"/>
            <a:ext cx="914400" cy="914400"/>
          </a:xfrm>
          <a:prstGeom prst="rect">
            <a:avLst/>
          </a:prstGeom>
          <a:solidFill>
            <a:srgbClr val="E8D5BC"/>
          </a:solidFill>
          <a:ln w="635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91640" y="4617720"/>
            <a:ext cx="914400" cy="914400"/>
          </a:xfrm>
          <a:prstGeom prst="rect">
            <a:avLst/>
          </a:prstGeom>
          <a:solidFill>
            <a:srgbClr val="E8D5BC"/>
          </a:solidFill>
          <a:ln w="635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4617720"/>
            <a:ext cx="914400" cy="914400"/>
          </a:xfrm>
          <a:prstGeom prst="rect">
            <a:avLst/>
          </a:prstGeom>
          <a:solidFill>
            <a:srgbClr val="E8D5BC"/>
          </a:solidFill>
          <a:ln w="635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94760" y="4617720"/>
            <a:ext cx="914400" cy="914400"/>
          </a:xfrm>
          <a:prstGeom prst="rect">
            <a:avLst/>
          </a:prstGeom>
          <a:solidFill>
            <a:srgbClr val="E8D5BC"/>
          </a:solidFill>
          <a:ln w="635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62356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6F4E37"/>
                </a:solidFill>
                <a:latin typeface="Calibri"/>
              </a:rPr>
              <a:t>Mũi tên ← → để chuyển ảnh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280160"/>
            <a:ext cx="64008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1371600"/>
            <a:ext cx="5943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3A2312"/>
                </a:solidFill>
                <a:latin typeface="Calibri"/>
              </a:rPr>
              <a:t>Tên sản phẩm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828800"/>
            <a:ext cx="5943600" cy="822960"/>
          </a:xfrm>
          <a:prstGeom prst="rect">
            <a:avLst/>
          </a:prstGeom>
          <a:solidFill>
            <a:srgbClr val="FFF9F4"/>
          </a:solidFill>
          <a:ln w="12700">
            <a:solidFill>
              <a:srgbClr val="D2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0" y="1874519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600" b="1">
                <a:solidFill>
                  <a:srgbClr val="D27D2D"/>
                </a:solidFill>
                <a:latin typeface="Calibri"/>
              </a:rPr>
              <a:t>₫ 1.500.000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2860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🚚 Giao hàng toàn quốc    🛡️ Bảo vệ 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2788920"/>
            <a:ext cx="2834640" cy="685800"/>
          </a:xfrm>
          <a:prstGeom prst="rect">
            <a:avLst/>
          </a:prstGeom>
          <a:solidFill>
            <a:srgbClr val="F7ECE0"/>
          </a:solidFill>
          <a:ln w="635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0" y="2834640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Danh mục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081528"/>
            <a:ext cx="2834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3A2312"/>
                </a:solidFill>
                <a:latin typeface="Calibri"/>
              </a:rPr>
              <a:t>Áo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2788920"/>
            <a:ext cx="2834640" cy="685800"/>
          </a:xfrm>
          <a:prstGeom prst="rect">
            <a:avLst/>
          </a:prstGeom>
          <a:solidFill>
            <a:srgbClr val="F7ECE0"/>
          </a:solidFill>
          <a:ln w="635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0" y="2834640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081528"/>
            <a:ext cx="2834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3A2312"/>
                </a:solidFill>
                <a:latin typeface="Calibri"/>
              </a:rPr>
              <a:t>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3566160"/>
            <a:ext cx="2834640" cy="685800"/>
          </a:xfrm>
          <a:prstGeom prst="rect">
            <a:avLst/>
          </a:prstGeom>
          <a:solidFill>
            <a:srgbClr val="F7ECE0"/>
          </a:solidFill>
          <a:ln w="635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77840" y="3611880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Tình trạng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3858768"/>
            <a:ext cx="2834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3A2312"/>
                </a:solidFill>
                <a:latin typeface="Calibri"/>
              </a:rPr>
              <a:t>85% — Rất tốt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3566160"/>
            <a:ext cx="2834640" cy="685800"/>
          </a:xfrm>
          <a:prstGeom prst="rect">
            <a:avLst/>
          </a:prstGeom>
          <a:solidFill>
            <a:srgbClr val="F7ECE0"/>
          </a:solidFill>
          <a:ln w="635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3611880"/>
            <a:ext cx="2834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Kho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858768"/>
            <a:ext cx="2834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3A2312"/>
                </a:solidFill>
                <a:latin typeface="Calibri"/>
              </a:rPr>
              <a:t>3 sản phẩm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4526280"/>
            <a:ext cx="1828800" cy="502920"/>
          </a:xfrm>
          <a:prstGeom prst="rect">
            <a:avLst/>
          </a:prstGeom>
          <a:solidFill>
            <a:srgbClr val="FFF4EB"/>
          </a:solidFill>
          <a:ln w="19050">
            <a:solidFill>
              <a:srgbClr val="D2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0" y="4526280"/>
            <a:ext cx="18288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D27D2D"/>
                </a:solidFill>
                <a:latin typeface="Calibri"/>
              </a:rPr>
              <a:t>🛒 Thêm vào giỏ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526280"/>
            <a:ext cx="1828800" cy="50292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06640" y="4526280"/>
            <a:ext cx="18288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Mua ngay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452628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0" y="4526280"/>
            <a:ext cx="1371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3A2312"/>
                </a:solidFill>
                <a:latin typeface="Calibri"/>
              </a:rPr>
              <a:t>❤️ Thích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212080"/>
            <a:ext cx="5943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D27D2D"/>
                </a:solidFill>
                <a:latin typeface="Calibri"/>
              </a:rPr>
              <a:t>3 huy hiệu bảo vệ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486400"/>
            <a:ext cx="5943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🛡️ Bảo vệ người mua   ·   🔄 Đổi trả 7 ngày   ·   📦 Đồng kiểm khi nhận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5897880"/>
            <a:ext cx="5943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+ Card Shop: avatar · rating · số giao dịch · nút Xem Shop + Chat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Quản lý Giỏ hàng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URL: /cart  ·  Lưu trên server, multi-shop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14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D27D2D"/>
                </a:solidFill>
                <a:latin typeface="Calibri"/>
              </a:rPr>
              <a:t>Cấu trúc giỏ hàng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4864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Chia theo Shop (nhóm @handle)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Mỗi shop có checkbox riêng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Có thể mua từ nhiều shop trong 1 lần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D27D2D"/>
                </a:solidFill>
                <a:latin typeface="Calibri"/>
              </a:rPr>
              <a:t>Hành động trên sản phẩm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5486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✅ Chọn mua — tick vào ô vuông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➕ / ➖ Tăng giảm số lượng — sync lên server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🗑️ Xóa từng SP hoặc xóa theo nhóm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🗑️ Xóa SP hết hàng / Xóa đã chọn — nhanh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⚠️ SP hết hàng hiển thị overlay, không thể chọn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80160"/>
            <a:ext cx="530352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2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Tóm tắt đơn hàng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19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6F4E37"/>
                </a:solidFill>
                <a:latin typeface="Calibri"/>
              </a:rPr>
              <a:t>🏷️  Mã giảm giá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THRIFT10  ·  VINTAGE  →  giảm 10% tạm tính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6032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FREESHIP — đang phát triển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108960"/>
            <a:ext cx="4937760" cy="18288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2918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Tạm tính (3 SP)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291840"/>
            <a:ext cx="1920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200" b="1">
                <a:solidFill>
                  <a:srgbClr val="3A2312"/>
                </a:solidFill>
                <a:latin typeface="Calibri"/>
              </a:rPr>
              <a:t>₫ 1.500.000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9476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Phí vận chuyển (× 2 shop)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794760"/>
            <a:ext cx="1920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200" b="1">
                <a:solidFill>
                  <a:srgbClr val="3A2312"/>
                </a:solidFill>
                <a:latin typeface="Calibri"/>
              </a:rPr>
              <a:t>₫ 60.000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9768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Giảm giá (10%)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297680"/>
            <a:ext cx="1920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200" b="1">
                <a:solidFill>
                  <a:srgbClr val="27AE60"/>
                </a:solidFill>
                <a:latin typeface="Calibri"/>
              </a:rPr>
              <a:t>−₫ 150.000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0060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3A2312"/>
                </a:solidFill>
                <a:latin typeface="Calibri"/>
              </a:rPr>
              <a:t>TỔNG THANH TOÁN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4800600"/>
            <a:ext cx="1920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2000" b="1">
                <a:solidFill>
                  <a:srgbClr val="D27D2D"/>
                </a:solidFill>
                <a:latin typeface="Calibri"/>
              </a:rPr>
              <a:t>₫ 1.410.000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5669280"/>
            <a:ext cx="4937760" cy="54864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669280"/>
            <a:ext cx="49377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Mua Hàng (3 món)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Thanh toán (Checkout)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URL: /checkout  ·  Yêu cầu đăng nhập · 3 bước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15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657600" cy="64008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36576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Bước 1  ·  📍  Địa chỉ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33832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Sổ địa chỉ thông minh (CAS)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Tự động điền nếu đã có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Modal: chọn hoặc thêm mới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Tỉnh → Phường/Xã (2 cấp)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Validation: Tên + SĐT 10-11 số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Địa chỉ chi tiết ≥ 10 ký tự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9080" y="3383280"/>
            <a:ext cx="228600" cy="365760"/>
          </a:xfrm>
          <a:prstGeom prst="rightArrow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554480"/>
            <a:ext cx="36576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1554480"/>
            <a:ext cx="3657600" cy="64008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60" y="1554480"/>
            <a:ext cx="36576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Bước 2  ·  📋  Xác nhận đơn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331720"/>
            <a:ext cx="33832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6F4E37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Danh sách sản phẩm đã chọn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6F4E37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Ảnh + Size × qty + thành tiền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6F4E37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Phương thức: COD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6F4E37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Tổng tiền cuối cùng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3840" y="3383280"/>
            <a:ext cx="228600" cy="365760"/>
          </a:xfrm>
          <a:prstGeom prst="rightArrow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554480"/>
            <a:ext cx="36576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554480"/>
            <a:ext cx="3657600" cy="6400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1554480"/>
            <a:ext cx="36576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Bước 3  ·  ✅  Hoàn tất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331720"/>
            <a:ext cx="33832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Mã đơn: ORD-123456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Thông tin người nhận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Tổng tiền đã thanh toán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2 nút: Xem đơn / Mua tiếp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47120" cy="594360"/>
          </a:xfrm>
          <a:prstGeom prst="rect">
            <a:avLst/>
          </a:prstGeom>
          <a:solidFill>
            <a:srgbClr val="F7ECE0"/>
          </a:solidFill>
          <a:ln w="12700">
            <a:solidFill>
              <a:srgbClr val="D2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9728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3A2312"/>
                </a:solidFill>
                <a:latin typeface="Calibri"/>
              </a:rPr>
              <a:t>🔧  Backend flow:  POST /api/orders  →  POST /api/payments/checkout  →  Auto COD → status = CONFIRMED  →  Giỏ hàng tự làm mới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Quản lý Đơn mua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URL: /account  ·  Tab “Đơn mua”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16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1945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2194560" cy="54864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⏰ Chờ thanh toán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201168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onsolas"/>
              </a:rPr>
              <a:t>PENDING_PAYMENT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417320"/>
            <a:ext cx="21945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D2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97480" y="1417320"/>
            <a:ext cx="2194560" cy="54864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1417320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📦 Chờ lấy hàng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103120"/>
            <a:ext cx="201168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onsolas"/>
              </a:rPr>
              <a:t>CONFIRMED, PACKING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1417320"/>
            <a:ext cx="21945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37760" y="1417320"/>
            <a:ext cx="2194560" cy="54864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1417320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🚚 Đang giao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103120"/>
            <a:ext cx="201168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onsolas"/>
              </a:rPr>
              <a:t>SHIPPING, DELIVERING, DELIVERED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1417320"/>
            <a:ext cx="21945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78040" y="1417320"/>
            <a:ext cx="2194560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1417320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⭐ Đánh giá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103120"/>
            <a:ext cx="201168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onsolas"/>
              </a:rPr>
              <a:t>COMPLETED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417320"/>
            <a:ext cx="21945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18320" y="1417320"/>
            <a:ext cx="2194560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1417320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❌ Đã hủy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103120"/>
            <a:ext cx="201168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onsolas"/>
              </a:rPr>
              <a:t>CANCEL_REQUESTED, CANCELLED, DISPUTED, REFUNDED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D27D2D"/>
                </a:solidFill>
                <a:latin typeface="Calibri"/>
              </a:rPr>
              <a:t>Hành động theo trạng thái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160520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D27D2D"/>
                </a:solidFill>
                <a:latin typeface="Calibri"/>
              </a:rPr>
              <a:t>Chờ thanh toán: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160520"/>
            <a:ext cx="8961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“Tiếp tục thanh toán” — thử lại qua cổng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D27D2D"/>
                </a:solidFill>
                <a:latin typeface="Calibri"/>
              </a:rPr>
              <a:t>Chờ lấy hàng: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572000"/>
            <a:ext cx="8961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Xem thông tin vận đơn (mã GHTK, trạng thái, dự kiến giao) + nút Yêu cầu hủy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983480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D27D2D"/>
                </a:solidFill>
                <a:latin typeface="Calibri"/>
              </a:rPr>
              <a:t>Đang giao: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983480"/>
            <a:ext cx="8961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“Xác nhận đã nhận” → chuyển COMPLETED (qua DELIVERED)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94960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D27D2D"/>
                </a:solidFill>
                <a:latin typeface="Calibri"/>
              </a:rPr>
              <a:t>Đánh giá: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394960"/>
            <a:ext cx="8961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Modal 1–5 sao + nhận xét ≤ 500 ký tự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806440"/>
            <a:ext cx="2194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D27D2D"/>
                </a:solidFill>
                <a:latin typeface="Calibri"/>
              </a:rPr>
              <a:t>Đã hủy: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806440"/>
            <a:ext cx="8961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Hiển thị trạng thái cuối — không thể khôi phục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Sổ địa chỉ &amp; Đánh giá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Quản lý địa chỉ giao hàng + đánh giá sản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17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📍  Sổ địa chỉ nhận hàng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51206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Thêm/Sửa/Xóa địa chỉ đầy đủ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Đặt địa chỉ mặc định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CAS Address Kit — 2 cấp hành chính: Tỉnh → Phường/Xã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Sau sáp nhập: KHÔNG còn Quận/Huyện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Đồng bộ với form Thanh toán &amp; Kho hàng của Seller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⭐  Đánh giá sản phẩm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Mở từ tab Đánh giá khi đơn ở trạng thái COMPLETED.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12064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⭐ 1 — Không hài lòng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⭐⭐ 2 — Chưa hài lòng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⭐⭐⭐ 3 — Bình thường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⭐⭐⭐⭐ 4 — Hài lòng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7AE60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⭐⭐⭐⭐⭐ 5 — Rất hài lòng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9768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Nhận xét ≤ 500 ký tự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84632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Calibri"/>
              </a:rPr>
              <a:t>⚠️  Mỗi đơn chỉ đánh giá 1 lần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12080"/>
            <a:ext cx="493776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Không thể sửa sau khi gửi. Hệ thống chống trùng lặp review.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CB5C"/>
                </a:solidFill>
                <a:latin typeface="Calibri"/>
              </a:rPr>
              <a:t>PHẦN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>
                <a:solidFill>
                  <a:srgbClr val="FAF0E6"/>
                </a:solidFill>
                <a:latin typeface="Calibri"/>
              </a:rPr>
              <a:t>Hướng dẫn cho Người bán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>
                <a:solidFill>
                  <a:srgbClr val="F5CB5C"/>
                </a:solidFill>
                <a:latin typeface="Calibri"/>
              </a:rPr>
              <a:t>Đăng ký Shop · Đăng bán · Quản lý đơn · Tạo vận đơn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828800" cy="4572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Đăng ký Shop &amp; Trạng thái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URL: /seller/apply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19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943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D27D2D"/>
                </a:solidFill>
                <a:latin typeface="Calibri"/>
              </a:rPr>
              <a:t>Form đăng ký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9436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Tên Shop  *  (≥ 3 ký tự, ≤ 100)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Tên định danh @handle  *  (3-30 ký tự: a-z, 0-9, ., _)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Giới thiệu Shop  (tùy chọn)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D27D2D"/>
                </a:solidFill>
                <a:latin typeface="Calibri"/>
              </a:rPr>
              <a:t>●  </a:t>
            </a:r>
            <a:r>
              <a:rPr sz="1200">
                <a:solidFill>
                  <a:srgbClr val="3A2312"/>
                </a:solidFill>
                <a:latin typeface="Calibri"/>
              </a:rPr>
              <a:t>Gửi đơn → chờ Admin duyệt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5943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D27D2D"/>
                </a:solidFill>
                <a:latin typeface="Calibri"/>
              </a:rPr>
              <a:t>Quy tắc handle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594360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onsolas"/>
              </a:rPr>
              <a:t>• Chữ thường không dấu (a-z)</a:t>
            </a:r>
          </a:p>
          <a:p>
            <a:pPr algn="l"/>
            <a:r>
              <a:rPr sz="1100" b="0">
                <a:solidFill>
                  <a:srgbClr val="3A2312"/>
                </a:solidFill>
                <a:latin typeface="Consolas"/>
              </a:rPr>
              <a:t>• Số (0-9)</a:t>
            </a:r>
          </a:p>
          <a:p>
            <a:pPr algn="l"/>
            <a:r>
              <a:rPr sz="1100" b="0">
                <a:solidFill>
                  <a:srgbClr val="3A2312"/>
                </a:solidFill>
                <a:latin typeface="Consolas"/>
              </a:rPr>
              <a:t>• Dấu chấm (.) và gạch dưới (_)</a:t>
            </a:r>
          </a:p>
          <a:p>
            <a:pPr algn="l"/>
            <a:r>
              <a:rPr sz="1100" b="0">
                <a:solidFill>
                  <a:srgbClr val="3A2312"/>
                </a:solidFill>
                <a:latin typeface="Consolas"/>
              </a:rPr>
              <a:t>• Hệ thống tự gợi ý từ tên Shop (có thể sửa)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1417320"/>
            <a:ext cx="2651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66560" y="1417320"/>
            <a:ext cx="2651760" cy="45720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141732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965960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3A2312"/>
                </a:solidFill>
                <a:latin typeface="Calibri"/>
              </a:rPr>
              <a:t>Mặc định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77440"/>
            <a:ext cx="24688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Mới đăng ký tk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5480" y="1417320"/>
            <a:ext cx="2651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2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55480" y="1417320"/>
            <a:ext cx="2651760" cy="45720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55480" y="141732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965960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3A2312"/>
                </a:solidFill>
                <a:latin typeface="Calibri"/>
              </a:rPr>
              <a:t>Chờ duyệt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377440"/>
            <a:ext cx="24688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Đã nộp hồ sơ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3611880"/>
            <a:ext cx="2651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66560" y="3611880"/>
            <a:ext cx="2651760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361188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APPROVED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160520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3A2312"/>
                </a:solidFill>
                <a:latin typeface="Calibri"/>
              </a:rPr>
              <a:t>Đã duyệt 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572000"/>
            <a:ext cx="24688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Có thể đăng bán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3611880"/>
            <a:ext cx="2651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555480" y="3611880"/>
            <a:ext cx="2651760" cy="4572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55480" y="361188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REJECTED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4160520"/>
            <a:ext cx="2468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3A2312"/>
                </a:solidFill>
                <a:latin typeface="Calibri"/>
              </a:rPr>
              <a:t>Bị từ chối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4572000"/>
            <a:ext cx="24688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6F4E37"/>
                </a:solidFill>
                <a:latin typeface="Calibri"/>
              </a:rPr>
              <a:t>Có thể nộp lại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Đăng bán sản phẩm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URL: /sell  ·  Yêu cầu APPROVED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20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943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D27D2D"/>
                </a:solidFill>
                <a:latin typeface="Calibri"/>
              </a:rPr>
              <a:t>Quy trình đăng bán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45920"/>
            <a:ext cx="5303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Upload ảnh (tối đa 6, ảnh đầu = ảnh bìa, auto nén 800×800)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86000"/>
            <a:ext cx="5303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Điền: Tên (5–100), Danh mục, Mô tả (≤ 2000), Giá (&gt; 0), Số lượng (≥ 1)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926080"/>
            <a:ext cx="5303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Chọn Size (XS-XXL) &amp; Độ mới (30–100%)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566160"/>
            <a:ext cx="5303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(Tùy chọn) Bấm “AI gợi ý giá &amp; loại” — AI phân tích tên + ảnh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251960"/>
            <a:ext cx="365760" cy="36576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251960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06240"/>
            <a:ext cx="5303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Modal “Kiểm tra sản phẩm” → nhấn “Gửi duyệt 🌿”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892040"/>
            <a:ext cx="365760" cy="365760"/>
          </a:xfrm>
          <a:prstGeom prst="ellipse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365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46320"/>
            <a:ext cx="53035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Sản phẩm ở trạng thái pending — chờ Admin duyệt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1280160"/>
            <a:ext cx="4937760" cy="2194560"/>
          </a:xfrm>
          <a:prstGeom prst="rect">
            <a:avLst/>
          </a:prstGeom>
          <a:solidFill>
            <a:srgbClr val="FFF9F0"/>
          </a:solidFill>
          <a:ln w="12700">
            <a:solidFill>
              <a:srgbClr val="D2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0" y="137160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D27D2D"/>
                </a:solidFill>
                <a:latin typeface="Calibri"/>
              </a:rPr>
              <a:t>💡  Mẹo chụp ảnh bán nhanh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78308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Ánh sáng tự nhiên — màu thật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Nhiều góc: trước, sau, cổ, tay, chi tiết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Đặt phẳng hoặc trên mannequin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Ảnh rõ nét bán nhanh gấp 3 lần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3657600"/>
            <a:ext cx="4937760" cy="2377440"/>
          </a:xfrm>
          <a:prstGeom prst="rect">
            <a:avLst/>
          </a:prstGeom>
          <a:solidFill>
            <a:srgbClr val="F7ECE0"/>
          </a:solidFill>
          <a:ln w="1270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0" y="3749039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6F4E37"/>
                </a:solidFill>
                <a:latin typeface="Calibri"/>
              </a:rPr>
              <a:t>💰  Phí nền tảng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160520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D27D2D"/>
                </a:solidFill>
                <a:latin typeface="Calibri"/>
              </a:rPr>
              <a:t>5% trên giá bán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66344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VD: Nhập giá 200.000₫ → Thực nhận 190.000₫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07492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Chỉ tính khi đơn COMPLETED thành công.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486400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D27D2D"/>
                </a:solidFill>
                <a:latin typeface="Calibri"/>
              </a:rPr>
              <a:t>🤖  AI: gợi ý giá, danh mục, tags tự động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Quản lý 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URL: /account  ·  Tab "Kinh doanh"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21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2194560" cy="41148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12260"/>
            <a:ext cx="2194560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🏪 </a:t>
            </a:r>
            <a:r>
              <a:rPr lang="vi-VN" sz="1200" b="1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200" b="1" dirty="0" err="1" smtClean="0">
                <a:solidFill>
                  <a:srgbClr val="FFFFFF"/>
                </a:solidFill>
                <a:latin typeface="Calibri"/>
              </a:rPr>
              <a:t>Tất</a:t>
            </a:r>
            <a:r>
              <a:rPr sz="1200" b="1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cả</a:t>
            </a:r>
            <a:endParaRPr sz="1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2194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>
                <a:solidFill>
                  <a:srgbClr val="6F4E37"/>
                </a:solidFill>
                <a:latin typeface="Calibri"/>
              </a:rPr>
              <a:t>Mọi trạng thái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41732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97480" y="1417320"/>
            <a:ext cx="2194560" cy="4114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1512260"/>
            <a:ext cx="2194560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🟢 </a:t>
            </a:r>
            <a:r>
              <a:rPr lang="vi-VN" sz="1200" b="1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200" b="1" dirty="0" err="1" smtClean="0">
                <a:solidFill>
                  <a:srgbClr val="FFFFFF"/>
                </a:solidFill>
                <a:latin typeface="Calibri"/>
              </a:rPr>
              <a:t>Đang</a:t>
            </a:r>
            <a:r>
              <a:rPr sz="1200" b="1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bán</a:t>
            </a:r>
            <a:endParaRPr sz="1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97480" y="1920240"/>
            <a:ext cx="2194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>
                <a:solidFill>
                  <a:srgbClr val="6F4E37"/>
                </a:solidFill>
                <a:latin typeface="Calibri"/>
              </a:rPr>
              <a:t>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141732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37760" y="1417320"/>
            <a:ext cx="2194560" cy="41148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1512260"/>
            <a:ext cx="2194560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🟡 </a:t>
            </a:r>
            <a:r>
              <a:rPr lang="vi-VN" sz="1200" b="1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200" b="1" dirty="0" err="1" smtClean="0">
                <a:solidFill>
                  <a:srgbClr val="FFFFFF"/>
                </a:solidFill>
                <a:latin typeface="Calibri"/>
              </a:rPr>
              <a:t>Chờ</a:t>
            </a:r>
            <a:r>
              <a:rPr sz="1200" b="1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duyệt</a:t>
            </a:r>
            <a:endParaRPr sz="1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7760" y="1920240"/>
            <a:ext cx="2194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>
                <a:solidFill>
                  <a:srgbClr val="6F4E37"/>
                </a:solidFill>
                <a:latin typeface="Calibri"/>
              </a:rPr>
              <a:t>pending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141732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78040" y="1417320"/>
            <a:ext cx="2194560" cy="41148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1512260"/>
            <a:ext cx="2194560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🔵 </a:t>
            </a:r>
            <a:r>
              <a:rPr lang="vi-VN" sz="1200" b="1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200" b="1" dirty="0" err="1" smtClean="0">
                <a:solidFill>
                  <a:srgbClr val="FFFFFF"/>
                </a:solidFill>
                <a:latin typeface="Calibri"/>
              </a:rPr>
              <a:t>Đã</a:t>
            </a:r>
            <a:r>
              <a:rPr sz="1200" b="1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Calibri"/>
              </a:rPr>
              <a:t>bán</a:t>
            </a:r>
            <a:endParaRPr sz="1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78040" y="1920240"/>
            <a:ext cx="2194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>
                <a:solidFill>
                  <a:srgbClr val="6F4E37"/>
                </a:solidFill>
                <a:latin typeface="Calibri"/>
              </a:rPr>
              <a:t>sold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417320"/>
            <a:ext cx="21945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18320" y="1417320"/>
            <a:ext cx="2194560" cy="41148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1417320"/>
            <a:ext cx="219456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⭐ Đánh giá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1920240"/>
            <a:ext cx="219456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>
                <a:solidFill>
                  <a:srgbClr val="6F4E37"/>
                </a:solidFill>
                <a:latin typeface="Calibri"/>
              </a:rPr>
              <a:t>Tổng hợp rating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D27D2D"/>
                </a:solidFill>
                <a:latin typeface="Calibri"/>
              </a:rPr>
              <a:t>Thống kê tổng quan (KPI)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20440"/>
            <a:ext cx="1554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611880"/>
            <a:ext cx="15544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0">
                <a:solidFill>
                  <a:srgbClr val="3A2312"/>
                </a:solidFill>
                <a:latin typeface="Calibri"/>
              </a:rPr>
              <a:t>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14800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6F4E37"/>
                </a:solidFill>
                <a:latin typeface="Calibri"/>
              </a:rPr>
              <a:t>Tổng SP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38912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D27D2D"/>
                </a:solidFill>
                <a:latin typeface="Calibri"/>
              </a:rPr>
              <a:t>Số liệu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7400" y="3520440"/>
            <a:ext cx="1554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57400" y="3611880"/>
            <a:ext cx="15544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0">
                <a:solidFill>
                  <a:srgbClr val="3A2312"/>
                </a:solidFill>
                <a:latin typeface="Calibri"/>
              </a:rPr>
              <a:t>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4114800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6F4E37"/>
                </a:solidFill>
                <a:latin typeface="Calibri"/>
              </a:rPr>
              <a:t>Đang bán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438912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D27D2D"/>
                </a:solidFill>
                <a:latin typeface="Calibri"/>
              </a:rPr>
              <a:t>Số liệu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3520440"/>
            <a:ext cx="1554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0" y="3611880"/>
            <a:ext cx="15544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0">
                <a:solidFill>
                  <a:srgbClr val="3A2312"/>
                </a:solidFill>
                <a:latin typeface="Calibri"/>
              </a:rPr>
              <a:t>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114800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6F4E37"/>
                </a:solidFill>
                <a:latin typeface="Calibri"/>
              </a:rPr>
              <a:t>Chờ duyệt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38912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D27D2D"/>
                </a:solidFill>
                <a:latin typeface="Calibri"/>
              </a:rPr>
              <a:t>Số liệu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57800" y="3520440"/>
            <a:ext cx="1554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57800" y="3611880"/>
            <a:ext cx="15544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0">
                <a:solidFill>
                  <a:srgbClr val="3A2312"/>
                </a:solidFill>
                <a:latin typeface="Calibri"/>
              </a:rPr>
              <a:t>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4114800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6F4E37"/>
                </a:solidFill>
                <a:latin typeface="Calibri"/>
              </a:rPr>
              <a:t>Đã bán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800" y="438912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D27D2D"/>
                </a:solidFill>
                <a:latin typeface="Calibri"/>
              </a:rPr>
              <a:t>Số liệu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3520440"/>
            <a:ext cx="1554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0" y="3611880"/>
            <a:ext cx="15544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0">
                <a:solidFill>
                  <a:srgbClr val="3A2312"/>
                </a:solidFill>
                <a:latin typeface="Calibri"/>
              </a:rPr>
              <a:t>👁️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114800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6F4E37"/>
                </a:solidFill>
                <a:latin typeface="Calibri"/>
              </a:rPr>
              <a:t>Tổng 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38912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D27D2D"/>
                </a:solidFill>
                <a:latin typeface="Calibri"/>
              </a:rPr>
              <a:t>Số liệu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3520440"/>
            <a:ext cx="1554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58200" y="3611880"/>
            <a:ext cx="15544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0">
                <a:solidFill>
                  <a:srgbClr val="3A2312"/>
                </a:solidFill>
                <a:latin typeface="Calibri"/>
              </a:rPr>
              <a:t>❤️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4114800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6F4E37"/>
                </a:solidFill>
                <a:latin typeface="Calibri"/>
              </a:rPr>
              <a:t>Tổng like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438912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D27D2D"/>
                </a:solidFill>
                <a:latin typeface="Calibri"/>
              </a:rPr>
              <a:t>Số liệu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58400" y="3520440"/>
            <a:ext cx="15544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058400" y="3611880"/>
            <a:ext cx="15544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0">
                <a:solidFill>
                  <a:srgbClr val="3A2312"/>
                </a:solidFill>
                <a:latin typeface="Calibri"/>
              </a:rPr>
              <a:t>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4114800"/>
            <a:ext cx="155448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6F4E37"/>
                </a:solidFill>
                <a:latin typeface="Calibri"/>
              </a:rPr>
              <a:t>Doanh thu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438912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D27D2D"/>
                </a:solidFill>
                <a:latin typeface="Calibri"/>
              </a:rPr>
              <a:t>Số liệu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7ECE0"/>
          </a:solidFill>
          <a:ln w="1270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6F4E37"/>
                </a:solidFill>
                <a:latin typeface="Calibri"/>
              </a:rPr>
              <a:t>Hành động trên sản phẩm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486400"/>
            <a:ext cx="109728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3A2312"/>
                </a:solidFill>
                <a:latin typeface="Calibri"/>
              </a:rPr>
              <a:t>✏️ 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Sửa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thông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tin  ·  🗃️ 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Lưu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trữ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(archive,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giữ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lịch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sử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)  ·  📊 </a:t>
            </a:r>
            <a:r>
              <a:rPr lang="vi-VN" sz="1200" b="0" dirty="0" smtClean="0">
                <a:solidFill>
                  <a:srgbClr val="3A2312"/>
                </a:solidFill>
                <a:latin typeface="Calibri"/>
              </a:rPr>
              <a:t>  </a:t>
            </a:r>
            <a:r>
              <a:rPr sz="1200" b="0" dirty="0" smtClean="0">
                <a:solidFill>
                  <a:srgbClr val="3A2312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Xem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chi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tiết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(view, like,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đánh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A2312"/>
                </a:solidFill>
                <a:latin typeface="Calibri"/>
              </a:rPr>
              <a:t>giá</a:t>
            </a:r>
            <a:r>
              <a:rPr sz="1200" b="0" dirty="0">
                <a:solidFill>
                  <a:srgbClr val="3A2312"/>
                </a:solidFill>
                <a:latin typeface="Calibri"/>
              </a:rPr>
              <a:t>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Tạo vận đơn &amp; Kho hàng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URL: /account · Bước quan trọng trong xử lý đơn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22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66928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dirty="0">
                <a:solidFill>
                  <a:srgbClr val="D27D2D"/>
                </a:solidFill>
                <a:latin typeface="Calibri"/>
              </a:rPr>
              <a:t>🚚  </a:t>
            </a:r>
            <a:r>
              <a:rPr lang="vi-VN" sz="1500" b="1" dirty="0" smtClean="0">
                <a:solidFill>
                  <a:srgbClr val="D27D2D"/>
                </a:solidFill>
                <a:latin typeface="Calibri"/>
              </a:rPr>
              <a:t>  </a:t>
            </a:r>
            <a:r>
              <a:rPr sz="1500" b="1" dirty="0" err="1" smtClean="0">
                <a:solidFill>
                  <a:srgbClr val="D27D2D"/>
                </a:solidFill>
                <a:latin typeface="Calibri"/>
              </a:rPr>
              <a:t>Tạo</a:t>
            </a:r>
            <a:r>
              <a:rPr sz="1500" b="1" dirty="0" smtClean="0">
                <a:solidFill>
                  <a:srgbClr val="D27D2D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D27D2D"/>
                </a:solidFill>
                <a:latin typeface="Calibri"/>
              </a:rPr>
              <a:t>vận</a:t>
            </a:r>
            <a:r>
              <a:rPr sz="1500" b="1" dirty="0">
                <a:solidFill>
                  <a:srgbClr val="D27D2D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D27D2D"/>
                </a:solidFill>
                <a:latin typeface="Calibri"/>
              </a:rPr>
              <a:t>đơn</a:t>
            </a:r>
            <a:r>
              <a:rPr sz="1500" b="1" dirty="0">
                <a:solidFill>
                  <a:srgbClr val="D27D2D"/>
                </a:solidFill>
                <a:latin typeface="Calibri"/>
              </a:rPr>
              <a:t> (Shipment)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6692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Khi đơn CONFIRMED / PACKING → nhấn Tạo vận đơn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Dialog hiện ra với fields: Tên shop, SĐT, địa chỉ lấy hàng, Phường/Xã, Tỉnh/Thành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Tự động điền từ Kho hàng (nếu đã thiết lập)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Bấm “Tạo vận đơn” → tạo mã GHTK + tracking URL + timeline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Đơn chuyển SHIPPING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5669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D27D2D"/>
                </a:solidFill>
                <a:latin typeface="Calibri"/>
              </a:rPr>
              <a:t>Trạng thái vận đơn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56692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dirty="0">
                <a:solidFill>
                  <a:srgbClr val="3A2312"/>
                </a:solidFill>
                <a:latin typeface="Consolas"/>
              </a:rPr>
              <a:t>PENDING → CREATED → PICKED_UP → IN_TRANSIT → DELIVERING → DELIVERED</a:t>
            </a:r>
          </a:p>
          <a:p>
            <a:pPr algn="l"/>
            <a:r>
              <a:rPr sz="1100" b="0" dirty="0">
                <a:solidFill>
                  <a:srgbClr val="3A2312"/>
                </a:solidFill>
                <a:latin typeface="Consolas"/>
              </a:rPr>
              <a:t>RETURNED · CANCELLED · FAILED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80160"/>
            <a:ext cx="530352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382571"/>
            <a:ext cx="530352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📦  </a:t>
            </a:r>
            <a:r>
              <a:rPr lang="vi-VN" sz="1400" b="1" dirty="0" smtClean="0">
                <a:solidFill>
                  <a:srgbClr val="FFFFFF"/>
                </a:solidFill>
                <a:latin typeface="Calibri"/>
              </a:rPr>
              <a:t>  </a:t>
            </a:r>
            <a:r>
              <a:rPr sz="1400" b="1" dirty="0" err="1" smtClean="0">
                <a:solidFill>
                  <a:srgbClr val="FFFFFF"/>
                </a:solidFill>
                <a:latin typeface="Calibri"/>
              </a:rPr>
              <a:t>Kho</a:t>
            </a:r>
            <a:r>
              <a:rPr sz="1400" b="1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hàng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(Pickup Address)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19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Calibri"/>
              </a:rPr>
              <a:t>Tại sao cần thiết lập?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40280"/>
            <a:ext cx="493776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Đơn vị vận chuyển cần địa chỉ cố định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Đã có kho → tự động điền vào dialog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27D2D"/>
                </a:solidFill>
                <a:latin typeface="Calibri"/>
              </a:rPr>
              <a:t>●  </a:t>
            </a:r>
            <a:r>
              <a:rPr sz="1100">
                <a:solidFill>
                  <a:srgbClr val="3A2312"/>
                </a:solidFill>
                <a:latin typeface="Calibri"/>
              </a:rPr>
              <a:t>Chưa có kho → phải nhập tay mỗi đơn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6052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Calibri"/>
              </a:rPr>
              <a:t>Thiết lập lần đầu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26280"/>
            <a:ext cx="493776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dirty="0">
                <a:solidFill>
                  <a:srgbClr val="D27D2D"/>
                </a:solidFill>
                <a:latin typeface="Calibri"/>
              </a:rPr>
              <a:t>● 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Tên</a:t>
            </a:r>
            <a:r>
              <a:rPr sz="1100" dirty="0">
                <a:solidFill>
                  <a:srgbClr val="3A2312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kho</a:t>
            </a:r>
            <a:r>
              <a:rPr sz="1100" dirty="0">
                <a:solidFill>
                  <a:srgbClr val="3A2312"/>
                </a:solidFill>
                <a:latin typeface="Calibri"/>
              </a:rPr>
              <a:t> /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người</a:t>
            </a:r>
            <a:r>
              <a:rPr sz="1100" dirty="0">
                <a:solidFill>
                  <a:srgbClr val="3A2312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bàn</a:t>
            </a:r>
            <a:r>
              <a:rPr sz="1100" dirty="0">
                <a:solidFill>
                  <a:srgbClr val="3A2312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giao</a:t>
            </a:r>
            <a:endParaRPr sz="1100" dirty="0">
              <a:solidFill>
                <a:srgbClr val="3A2312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dirty="0">
                <a:solidFill>
                  <a:srgbClr val="D27D2D"/>
                </a:solidFill>
                <a:latin typeface="Calibri"/>
              </a:rPr>
              <a:t>●  </a:t>
            </a:r>
            <a:r>
              <a:rPr sz="1100" dirty="0">
                <a:solidFill>
                  <a:srgbClr val="3A2312"/>
                </a:solidFill>
                <a:latin typeface="Calibri"/>
              </a:rPr>
              <a:t>SĐT (10–11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chữ</a:t>
            </a:r>
            <a:r>
              <a:rPr sz="1100" dirty="0">
                <a:solidFill>
                  <a:srgbClr val="3A2312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số</a:t>
            </a:r>
            <a:r>
              <a:rPr sz="1100" dirty="0">
                <a:solidFill>
                  <a:srgbClr val="3A2312"/>
                </a:solidFill>
                <a:latin typeface="Calibri"/>
              </a:rPr>
              <a:t>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dirty="0">
                <a:solidFill>
                  <a:srgbClr val="D27D2D"/>
                </a:solidFill>
                <a:latin typeface="Calibri"/>
              </a:rPr>
              <a:t>● 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Tỉnh</a:t>
            </a:r>
            <a:r>
              <a:rPr sz="1100" dirty="0">
                <a:solidFill>
                  <a:srgbClr val="3A2312"/>
                </a:solidFill>
                <a:latin typeface="Calibri"/>
              </a:rPr>
              <a:t>/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Thành</a:t>
            </a:r>
            <a:r>
              <a:rPr sz="1100" dirty="0">
                <a:solidFill>
                  <a:srgbClr val="3A2312"/>
                </a:solidFill>
                <a:latin typeface="Calibri"/>
              </a:rPr>
              <a:t> →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Phường</a:t>
            </a:r>
            <a:r>
              <a:rPr sz="1100" dirty="0">
                <a:solidFill>
                  <a:srgbClr val="3A2312"/>
                </a:solidFill>
                <a:latin typeface="Calibri"/>
              </a:rPr>
              <a:t>/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Xã</a:t>
            </a:r>
            <a:r>
              <a:rPr sz="1100" dirty="0">
                <a:solidFill>
                  <a:srgbClr val="3A2312"/>
                </a:solidFill>
                <a:latin typeface="Calibri"/>
              </a:rPr>
              <a:t> (CAS)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dirty="0">
                <a:solidFill>
                  <a:srgbClr val="D27D2D"/>
                </a:solidFill>
                <a:latin typeface="Calibri"/>
              </a:rPr>
              <a:t>● 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Số</a:t>
            </a:r>
            <a:r>
              <a:rPr sz="1100" dirty="0">
                <a:solidFill>
                  <a:srgbClr val="3A2312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nhà</a:t>
            </a:r>
            <a:r>
              <a:rPr sz="1100" dirty="0">
                <a:solidFill>
                  <a:srgbClr val="3A2312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tên</a:t>
            </a:r>
            <a:r>
              <a:rPr sz="1100" dirty="0">
                <a:solidFill>
                  <a:srgbClr val="3A2312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đường</a:t>
            </a:r>
            <a:endParaRPr sz="1100" dirty="0">
              <a:solidFill>
                <a:srgbClr val="3A2312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 dirty="0">
                <a:solidFill>
                  <a:srgbClr val="D27D2D"/>
                </a:solidFill>
                <a:latin typeface="Calibri"/>
              </a:rPr>
              <a:t>● 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Lưu</a:t>
            </a:r>
            <a:r>
              <a:rPr sz="1100" dirty="0">
                <a:solidFill>
                  <a:srgbClr val="3A2312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3A2312"/>
                </a:solidFill>
                <a:latin typeface="Calibri"/>
              </a:rPr>
              <a:t>với</a:t>
            </a:r>
            <a:r>
              <a:rPr sz="1100" dirty="0">
                <a:solidFill>
                  <a:srgbClr val="3A2312"/>
                </a:solidFill>
                <a:latin typeface="Calibri"/>
              </a:rPr>
              <a:t> type = warehouse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CB5C"/>
                </a:solidFill>
                <a:latin typeface="Calibri"/>
              </a:rPr>
              <a:t>PHẦN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>
                <a:solidFill>
                  <a:srgbClr val="FAF0E6"/>
                </a:solidFill>
                <a:latin typeface="Calibri"/>
              </a:rPr>
              <a:t>Hướng dẫn cho Quản trị viên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>
                <a:solidFill>
                  <a:srgbClr val="F5CB5C"/>
                </a:solidFill>
                <a:latin typeface="Calibri"/>
              </a:rPr>
              <a:t>Bảng quản trị · Duyệt bài · Duyệt Shop · Quản lý 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828800" cy="4572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Admin đăng nhập &amp; 4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URL: /admin  ·  Sau đăng nhập auto-redirect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24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D27D2D"/>
                </a:solidFill>
                <a:latin typeface="Calibri"/>
              </a:rPr>
              <a:t>Đăng nhập 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00" cy="22860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5CB5C"/>
                </a:solidFill>
                <a:latin typeface="Calibri"/>
              </a:rPr>
              <a:t>🛡️  System Administrator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FAF0E6"/>
                </a:solidFill>
                <a:latin typeface="Consolas"/>
              </a:rPr>
              <a:t>Email: admin@thriftit.vn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FAF0E6"/>
                </a:solidFill>
                <a:latin typeface="Consolas"/>
              </a:rPr>
              <a:t>Mật khẩu: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F5CB5C"/>
                </a:solidFill>
                <a:latin typeface="Calibri"/>
              </a:rPr>
              <a:t>→ Hệ thống tự chuyển đến /admin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E8D5BC"/>
                </a:solidFill>
                <a:latin typeface="Calibri"/>
              </a:rPr>
              <a:t>→ Cũng có thể vào qua nút “Admin Panel” trên Header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7432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2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2743200" cy="54864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280160"/>
            <a:ext cx="27432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📈  Tổng quan thống kê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237744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Phí hoa hồng · Tin chờ duyệt · Doanh số · Tỷ lệ Platform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280160"/>
            <a:ext cx="27432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98280" y="1280160"/>
            <a:ext cx="2743200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1280160"/>
            <a:ext cx="27432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📦  Duyệt bài đăng C2C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011680"/>
            <a:ext cx="237744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Quan trọng nhất — duyệt mọi tin trước khi public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840480"/>
            <a:ext cx="27432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840480"/>
            <a:ext cx="2743200" cy="54864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3840480"/>
            <a:ext cx="27432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🏪  Duyệt Shop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72000"/>
            <a:ext cx="237744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Duyệt hồ sơ đăng ký Seller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3840480"/>
            <a:ext cx="27432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98280" y="3840480"/>
            <a:ext cx="2743200" cy="54864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98280" y="3840480"/>
            <a:ext cx="27432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👥  Danh sách tài khoản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4572000"/>
            <a:ext cx="2377440" cy="1554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3A2312"/>
                </a:solidFill>
                <a:latin typeface="Calibri"/>
              </a:rPr>
              <a:t>Lọc Buyer/Seller · Khóa / Mở khóa · Lý 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Tiêu chí duyệt bài đăng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Quyết định giữ chất lượng cộng đồng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25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5120640"/>
          </a:xfrm>
          <a:prstGeom prst="rect">
            <a:avLst/>
          </a:prstGeom>
          <a:solidFill>
            <a:srgbClr val="E9F7EF"/>
          </a:solidFill>
          <a:ln w="254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  NÊN DUYỆT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51206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27AE60"/>
                </a:solidFill>
                <a:latin typeface="Calibri"/>
              </a:rPr>
              <a:t>●  </a:t>
            </a:r>
            <a:r>
              <a:rPr sz="1400">
                <a:solidFill>
                  <a:srgbClr val="3A2312"/>
                </a:solidFill>
                <a:latin typeface="Calibri"/>
              </a:rPr>
              <a:t>Ảnh rõ ràng, đúng sản phẩm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27AE60"/>
                </a:solidFill>
                <a:latin typeface="Calibri"/>
              </a:rPr>
              <a:t>●  </a:t>
            </a:r>
            <a:r>
              <a:rPr sz="1400">
                <a:solidFill>
                  <a:srgbClr val="3A2312"/>
                </a:solidFill>
                <a:latin typeface="Calibri"/>
              </a:rPr>
              <a:t>Mô tả trung thực (chất liệu, size, tình trạng)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27AE60"/>
                </a:solidFill>
                <a:latin typeface="Calibri"/>
              </a:rPr>
              <a:t>●  </a:t>
            </a:r>
            <a:r>
              <a:rPr sz="1400">
                <a:solidFill>
                  <a:srgbClr val="3A2312"/>
                </a:solidFill>
                <a:latin typeface="Calibri"/>
              </a:rPr>
              <a:t>Giá hợp lý so với thị trường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27AE60"/>
                </a:solidFill>
                <a:latin typeface="Calibri"/>
              </a:rPr>
              <a:t>●  </a:t>
            </a:r>
            <a:r>
              <a:rPr sz="1400">
                <a:solidFill>
                  <a:srgbClr val="3A2312"/>
                </a:solidFill>
                <a:latin typeface="Calibri"/>
              </a:rPr>
              <a:t>Danh mục chính xác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5120640"/>
          </a:xfrm>
          <a:prstGeom prst="rect">
            <a:avLst/>
          </a:prstGeom>
          <a:solidFill>
            <a:srgbClr val="FDEDEC"/>
          </a:solidFill>
          <a:ln w="254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28016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✗  NÊN TỪ CHỐI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51206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74C3C"/>
                </a:solidFill>
                <a:latin typeface="Calibri"/>
              </a:rPr>
              <a:t>●  </a:t>
            </a:r>
            <a:r>
              <a:rPr sz="1400">
                <a:solidFill>
                  <a:srgbClr val="3A2312"/>
                </a:solidFill>
                <a:latin typeface="Calibri"/>
              </a:rPr>
              <a:t>Ảnh mờ, ảnh mạng, không phải SP thật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74C3C"/>
                </a:solidFill>
                <a:latin typeface="Calibri"/>
              </a:rPr>
              <a:t>●  </a:t>
            </a:r>
            <a:r>
              <a:rPr sz="1400">
                <a:solidFill>
                  <a:srgbClr val="3A2312"/>
                </a:solidFill>
                <a:latin typeface="Calibri"/>
              </a:rPr>
              <a:t>Mô tả sai lệch hoặc không có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74C3C"/>
                </a:solidFill>
                <a:latin typeface="Calibri"/>
              </a:rPr>
              <a:t>●  </a:t>
            </a:r>
            <a:r>
              <a:rPr sz="1400">
                <a:solidFill>
                  <a:srgbClr val="3A2312"/>
                </a:solidFill>
                <a:latin typeface="Calibri"/>
              </a:rPr>
              <a:t>Giá bất hợp lý (quá cao/thấp)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74C3C"/>
                </a:solidFill>
                <a:latin typeface="Calibri"/>
              </a:rPr>
              <a:t>●  </a:t>
            </a:r>
            <a:r>
              <a:rPr sz="1400">
                <a:solidFill>
                  <a:srgbClr val="3A2312"/>
                </a:solidFill>
                <a:latin typeface="Calibri"/>
              </a:rPr>
              <a:t>SP bị cấm (đồ nhái, hàng cấm)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74C3C"/>
                </a:solidFill>
                <a:latin typeface="Calibri"/>
              </a:rPr>
              <a:t>●  </a:t>
            </a:r>
            <a:r>
              <a:rPr sz="1400">
                <a:solidFill>
                  <a:srgbClr val="3A2312"/>
                </a:solidFill>
                <a:latin typeface="Calibri"/>
              </a:rPr>
              <a:t>Spam / đăng trùng lặp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E74C3C"/>
                </a:solidFill>
                <a:latin typeface="Calibri"/>
              </a:rPr>
              <a:t>⚠️  Duyệt / từ chối KHÔNG thể hoàn tác qua UI — cần can thiệp backend.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Scripts &amp; Nguyên tắc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Công cụ backend · Nguyên tắc quản trị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26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669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D27D2D"/>
                </a:solidFill>
                <a:latin typeface="Calibri"/>
              </a:rPr>
              <a:t>🛠️  Scripts quản trị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669280" cy="128016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5CB5C"/>
                </a:solidFill>
                <a:latin typeface="Consolas"/>
              </a:rPr>
              <a:t>📦  npm run db:backup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3035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AF0E6"/>
                </a:solidFill>
                <a:latin typeface="Calibri"/>
              </a:rPr>
              <a:t>Tạo snapshot JSON của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5669280" cy="128016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5303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5CB5C"/>
                </a:solidFill>
                <a:latin typeface="Consolas"/>
              </a:rPr>
              <a:t>📦  npm run db:reset -- --execute --confirm-reset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53035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AF0E6"/>
                </a:solidFill>
                <a:latin typeface="Calibri"/>
              </a:rPr>
              <a:t>Xóa carts/notifications, archive SP active (giữ lịch sử)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34840"/>
            <a:ext cx="5669280" cy="128016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5303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5CB5C"/>
                </a:solidFill>
                <a:latin typeface="Consolas"/>
              </a:rPr>
              <a:t>📦  npm run db:seed -- --execute --confirm-seed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53035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FAF0E6"/>
                </a:solidFill>
                <a:latin typeface="Calibri"/>
              </a:rPr>
              <a:t>Tạo 25 SP demo phân bố cho các seller hiện có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530352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dirty="0">
                <a:solidFill>
                  <a:srgbClr val="D27D2D"/>
                </a:solidFill>
                <a:latin typeface="Calibri"/>
              </a:rPr>
              <a:t>📋  </a:t>
            </a:r>
            <a:r>
              <a:rPr lang="vi-VN" sz="1500" b="1" dirty="0" smtClean="0">
                <a:solidFill>
                  <a:srgbClr val="D27D2D"/>
                </a:solidFill>
                <a:latin typeface="Calibri"/>
              </a:rPr>
              <a:t>  </a:t>
            </a:r>
            <a:r>
              <a:rPr sz="1500" b="1" dirty="0" err="1" smtClean="0">
                <a:solidFill>
                  <a:srgbClr val="D27D2D"/>
                </a:solidFill>
                <a:latin typeface="Calibri"/>
              </a:rPr>
              <a:t>Nguyên</a:t>
            </a:r>
            <a:r>
              <a:rPr sz="1500" b="1" dirty="0" smtClean="0">
                <a:solidFill>
                  <a:srgbClr val="D27D2D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D27D2D"/>
                </a:solidFill>
                <a:latin typeface="Calibri"/>
              </a:rPr>
              <a:t>tắc</a:t>
            </a:r>
            <a:r>
              <a:rPr sz="1500" b="1" dirty="0">
                <a:solidFill>
                  <a:srgbClr val="D27D2D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D27D2D"/>
                </a:solidFill>
                <a:latin typeface="Calibri"/>
              </a:rPr>
              <a:t>quản</a:t>
            </a:r>
            <a:r>
              <a:rPr sz="1500" b="1" dirty="0">
                <a:solidFill>
                  <a:srgbClr val="D27D2D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D27D2D"/>
                </a:solidFill>
                <a:latin typeface="Calibri"/>
              </a:rPr>
              <a:t>trị</a:t>
            </a:r>
            <a:r>
              <a:rPr sz="1500" b="1" dirty="0">
                <a:solidFill>
                  <a:srgbClr val="D27D2D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D27D2D"/>
                </a:solidFill>
                <a:latin typeface="Calibri"/>
              </a:rPr>
              <a:t>quan</a:t>
            </a:r>
            <a:r>
              <a:rPr sz="1500" b="1" dirty="0">
                <a:solidFill>
                  <a:srgbClr val="D27D2D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D27D2D"/>
                </a:solidFill>
                <a:latin typeface="Calibri"/>
              </a:rPr>
              <a:t>trọng</a:t>
            </a:r>
            <a:endParaRPr sz="1500" b="1" dirty="0">
              <a:solidFill>
                <a:srgbClr val="D27D2D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0" y="1691640"/>
            <a:ext cx="530352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  <a:latin typeface="Calibri"/>
              </a:rPr>
              <a:t>KHÔNG xóa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03120"/>
            <a:ext cx="49377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SP có đơn phụ thuộc — dùng archive thay delete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743200"/>
            <a:ext cx="530352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278892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  <a:latin typeface="Calibri"/>
              </a:rPr>
              <a:t>KHÔNG truncate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154680"/>
            <a:ext cx="49377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dirty="0">
                <a:solidFill>
                  <a:srgbClr val="3A2312"/>
                </a:solidFill>
                <a:latin typeface="Calibri"/>
              </a:rPr>
              <a:t>ledgers, </a:t>
            </a:r>
            <a:r>
              <a:rPr sz="1100" b="0" dirty="0" err="1">
                <a:solidFill>
                  <a:srgbClr val="3A2312"/>
                </a:solidFill>
                <a:latin typeface="Calibri"/>
              </a:rPr>
              <a:t>platformfeeconfigs</a:t>
            </a:r>
            <a:r>
              <a:rPr sz="1100" b="0" dirty="0">
                <a:solidFill>
                  <a:srgbClr val="3A2312"/>
                </a:solidFill>
                <a:latin typeface="Calibri"/>
              </a:rPr>
              <a:t>, orders — KHÔNG BAO GIỜ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794760"/>
            <a:ext cx="530352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384048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6F4E37"/>
                </a:solidFill>
                <a:latin typeface="Calibri"/>
              </a:rPr>
              <a:t>Backup trước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06240"/>
            <a:ext cx="49377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Khi thay đổi lớn: npm run db:backup trước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846320"/>
            <a:ext cx="530352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489204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  <a:latin typeface="Calibri"/>
              </a:rPr>
              <a:t>Không fallback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257800"/>
            <a:ext cx="49377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3A2312"/>
                </a:solidFill>
                <a:latin typeface="Calibri"/>
              </a:rPr>
              <a:t>Tuyệt đối KHÔNG dùng production URI làm fallback test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Câu hỏi thường gặp (FAQ)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0">
                <a:solidFill>
                  <a:srgbClr val="F5CB5C"/>
                </a:solidFill>
                <a:latin typeface="Calibri"/>
              </a:rPr>
              <a:t>Top 6 câu hỏi nhiều người dùng nhất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"/>
            <a:ext cx="1463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>
                <a:solidFill>
                  <a:srgbClr val="F5CB5C"/>
                </a:solidFill>
                <a:latin typeface="Calibri"/>
              </a:rPr>
              <a:t>27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259314" cy="1147542"/>
          </a:xfrm>
          <a:prstGeom prst="rect">
            <a:avLst/>
          </a:prstGeom>
          <a:solidFill>
            <a:srgbClr val="FFFFFF"/>
          </a:solidFill>
          <a:ln w="15240">
            <a:solidFill>
              <a:srgbClr val="D2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37160" cy="1147542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509" y="1416714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200" b="0">
                <a:solidFill>
                  <a:srgbClr val="3A2312"/>
                </a:solidFill>
                <a:latin typeface="Calibri"/>
              </a:rPr>
              <a:t>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63040"/>
            <a:ext cx="45720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3A2312"/>
                </a:solidFill>
                <a:latin typeface="Calibri"/>
              </a:rPr>
              <a:t>Tôi có thể mua hàng không cần đăng ký không?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509" y="1965960"/>
            <a:ext cx="502920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CÓ — duyệt SP và thêm vào giỏ tạm. Nhưng THANH TOÁN phải đăng nhập.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54864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137160" cy="2194560"/>
          </a:xfrm>
          <a:prstGeom prst="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200" b="0">
                <a:solidFill>
                  <a:srgbClr val="3A2312"/>
                </a:solidFill>
                <a:latin typeface="Calibri"/>
              </a:rPr>
              <a:t>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463040"/>
            <a:ext cx="45720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3A2312"/>
                </a:solidFill>
                <a:latin typeface="Calibri"/>
              </a:rPr>
              <a:t>Phí vận chuyển tính thế nào?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502920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30.000₫ × số shop khác nhau trong giỏ. Mỗi shop tính riêng.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40"/>
            <a:ext cx="54864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749040"/>
            <a:ext cx="137160" cy="21945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200" b="0">
                <a:solidFill>
                  <a:srgbClr val="3A2312"/>
                </a:solidFill>
                <a:latin typeface="Calibri"/>
              </a:rPr>
              <a:t>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840480"/>
            <a:ext cx="45720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3A2312"/>
                </a:solidFill>
                <a:latin typeface="Calibri"/>
              </a:rPr>
              <a:t>Phương thức thanh toán nào hỗ trợ?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502920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Hiện tại chỉ COD. Thẻ / ví điện tử sẽ bổ sung trong phiên bản tới.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749040"/>
            <a:ext cx="54864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0" y="3749040"/>
            <a:ext cx="137160" cy="219456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388620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200" b="0">
                <a:solidFill>
                  <a:srgbClr val="3A2312"/>
                </a:solidFill>
                <a:latin typeface="Calibri"/>
              </a:rPr>
              <a:t>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840480"/>
            <a:ext cx="45720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3A2312"/>
                </a:solidFill>
                <a:latin typeface="Calibri"/>
              </a:rPr>
              <a:t>Ai có thể trở thành Seller?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17720"/>
            <a:ext cx="502920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Bất kỳ user đã đăng ký — nộp hồ sơ Shop, chờ Admin duyệt (24–48h).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126480"/>
            <a:ext cx="54864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D2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6126480"/>
            <a:ext cx="137160" cy="219456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626364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200" b="0">
                <a:solidFill>
                  <a:srgbClr val="3A2312"/>
                </a:solidFill>
                <a:latin typeface="Calibri"/>
              </a:rPr>
              <a:t>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6217920"/>
            <a:ext cx="45720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3A2312"/>
                </a:solidFill>
                <a:latin typeface="Calibri"/>
              </a:rPr>
              <a:t>Phí nền tảng bao nhiêu?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995160"/>
            <a:ext cx="502920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5% trên giá bán. Chỉ tính khi đơn COMPLETED.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6126480"/>
            <a:ext cx="54864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26480" y="6126480"/>
            <a:ext cx="137160" cy="219456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6263640"/>
            <a:ext cx="4572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200" b="0">
                <a:solidFill>
                  <a:srgbClr val="3A2312"/>
                </a:solidFill>
                <a:latin typeface="Calibri"/>
              </a:rPr>
              <a:t>🛡️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6217920"/>
            <a:ext cx="45720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3A2312"/>
                </a:solidFill>
                <a:latin typeface="Calibri"/>
              </a:rPr>
              <a:t>Khi nào dùng script db:reset?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995160"/>
            <a:ext cx="502920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F4E37"/>
                </a:solidFill>
                <a:latin typeface="Calibri"/>
              </a:rPr>
              <a:t>CHỈ trên dev/test. TUYỆT ĐỐI KHÔNG chạy trên production.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8D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6601968"/>
            <a:ext cx="118872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6F4E37"/>
                </a:solidFill>
                <a:latin typeface="Calibri"/>
              </a:rPr>
              <a:t>thrift it! — User Manual ·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CB5C"/>
                </a:solidFill>
                <a:latin typeface="Calibri"/>
              </a:rPr>
              <a:t>Cảm ơn bạn đã đọc!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88699"/>
            <a:ext cx="11003078" cy="6832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200" b="1" dirty="0" err="1">
                <a:solidFill>
                  <a:srgbClr val="FAF0E6"/>
                </a:solidFill>
                <a:latin typeface="Calibri"/>
              </a:rPr>
              <a:t>Chúc</a:t>
            </a:r>
            <a:r>
              <a:rPr sz="4200" b="1" dirty="0">
                <a:solidFill>
                  <a:srgbClr val="FAF0E6"/>
                </a:solidFill>
                <a:latin typeface="Calibri"/>
              </a:rPr>
              <a:t> </a:t>
            </a:r>
            <a:r>
              <a:rPr sz="4200" b="1" dirty="0" err="1">
                <a:solidFill>
                  <a:srgbClr val="FAF0E6"/>
                </a:solidFill>
                <a:latin typeface="Calibri"/>
              </a:rPr>
              <a:t>bạn</a:t>
            </a:r>
            <a:r>
              <a:rPr sz="4200" b="1" dirty="0">
                <a:solidFill>
                  <a:srgbClr val="FAF0E6"/>
                </a:solidFill>
                <a:latin typeface="Calibri"/>
              </a:rPr>
              <a:t> </a:t>
            </a:r>
            <a:r>
              <a:rPr sz="4200" b="1" dirty="0" err="1">
                <a:solidFill>
                  <a:srgbClr val="FAF0E6"/>
                </a:solidFill>
                <a:latin typeface="Calibri"/>
              </a:rPr>
              <a:t>có</a:t>
            </a:r>
            <a:r>
              <a:rPr sz="4200" b="1" dirty="0">
                <a:solidFill>
                  <a:srgbClr val="FAF0E6"/>
                </a:solidFill>
                <a:latin typeface="Calibri"/>
              </a:rPr>
              <a:t> </a:t>
            </a:r>
            <a:r>
              <a:rPr sz="4200" b="1" dirty="0" err="1">
                <a:solidFill>
                  <a:srgbClr val="FAF0E6"/>
                </a:solidFill>
                <a:latin typeface="Calibri"/>
              </a:rPr>
              <a:t>trải</a:t>
            </a:r>
            <a:r>
              <a:rPr sz="4200" b="1" dirty="0">
                <a:solidFill>
                  <a:srgbClr val="FAF0E6"/>
                </a:solidFill>
                <a:latin typeface="Calibri"/>
              </a:rPr>
              <a:t> </a:t>
            </a:r>
            <a:r>
              <a:rPr sz="4200" b="1" dirty="0" err="1">
                <a:solidFill>
                  <a:srgbClr val="FAF0E6"/>
                </a:solidFill>
                <a:latin typeface="Calibri"/>
              </a:rPr>
              <a:t>nghiệm</a:t>
            </a:r>
            <a:r>
              <a:rPr sz="4200" b="1" dirty="0">
                <a:solidFill>
                  <a:srgbClr val="FAF0E6"/>
                </a:solidFill>
                <a:latin typeface="Calibri"/>
              </a:rPr>
              <a:t> </a:t>
            </a:r>
            <a:r>
              <a:rPr sz="4200" b="1" dirty="0" err="1">
                <a:solidFill>
                  <a:srgbClr val="FAF0E6"/>
                </a:solidFill>
                <a:latin typeface="Calibri"/>
              </a:rPr>
              <a:t>tuyệt</a:t>
            </a:r>
            <a:r>
              <a:rPr sz="4200" b="1" dirty="0">
                <a:solidFill>
                  <a:srgbClr val="FAF0E6"/>
                </a:solidFill>
                <a:latin typeface="Calibri"/>
              </a:rPr>
              <a:t> </a:t>
            </a:r>
            <a:r>
              <a:rPr sz="4200" b="1" dirty="0" err="1">
                <a:solidFill>
                  <a:srgbClr val="FAF0E6"/>
                </a:solidFill>
                <a:latin typeface="Calibri"/>
              </a:rPr>
              <a:t>vời</a:t>
            </a:r>
            <a:r>
              <a:rPr sz="4200" b="1" dirty="0">
                <a:solidFill>
                  <a:srgbClr val="FAF0E6"/>
                </a:solidFill>
                <a:latin typeface="Calibri"/>
              </a:rPr>
              <a:t> </a:t>
            </a:r>
            <a:r>
              <a:rPr sz="4200" b="1" dirty="0" err="1">
                <a:solidFill>
                  <a:srgbClr val="FAF0E6"/>
                </a:solidFill>
                <a:latin typeface="Calibri"/>
              </a:rPr>
              <a:t>trên</a:t>
            </a:r>
            <a:r>
              <a:rPr sz="4200" b="1" dirty="0">
                <a:solidFill>
                  <a:srgbClr val="FAF0E6"/>
                </a:solidFill>
                <a:latin typeface="Calibri"/>
              </a:rPr>
              <a:t> thrift it! 🌿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1828800" cy="45720"/>
          </a:xfrm>
          <a:prstGeom prst="rect">
            <a:avLst/>
          </a:prstGeom>
          <a:solidFill>
            <a:srgbClr val="D2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dirty="0">
                <a:solidFill>
                  <a:srgbClr val="F5CB5C"/>
                </a:solidFill>
                <a:latin typeface="Calibri"/>
              </a:rPr>
              <a:t>📚 </a:t>
            </a:r>
            <a:r>
              <a:rPr lang="vi-VN" sz="1400" b="1" dirty="0" smtClean="0">
                <a:solidFill>
                  <a:srgbClr val="F5CB5C"/>
                </a:solidFill>
                <a:latin typeface="Calibri"/>
              </a:rPr>
              <a:t>  </a:t>
            </a:r>
            <a:r>
              <a:rPr sz="1400" b="1" dirty="0" err="1" smtClean="0">
                <a:solidFill>
                  <a:srgbClr val="F5CB5C"/>
                </a:solidFill>
                <a:latin typeface="Calibri"/>
              </a:rPr>
              <a:t>Tài</a:t>
            </a:r>
            <a:r>
              <a:rPr sz="1400" b="1" dirty="0" smtClean="0">
                <a:solidFill>
                  <a:srgbClr val="F5CB5C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5CB5C"/>
                </a:solidFill>
                <a:latin typeface="Calibri"/>
              </a:rPr>
              <a:t>liệu</a:t>
            </a:r>
            <a:r>
              <a:rPr sz="1400" b="1" dirty="0">
                <a:solidFill>
                  <a:srgbClr val="F5CB5C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5CB5C"/>
                </a:solidFill>
                <a:latin typeface="Calibri"/>
              </a:rPr>
              <a:t>tham</a:t>
            </a:r>
            <a:r>
              <a:rPr sz="1400" b="1" dirty="0">
                <a:solidFill>
                  <a:srgbClr val="F5CB5C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5CB5C"/>
                </a:solidFill>
                <a:latin typeface="Calibri"/>
              </a:rPr>
              <a:t>khảo</a:t>
            </a:r>
            <a:r>
              <a:rPr sz="1400" b="1" dirty="0">
                <a:solidFill>
                  <a:srgbClr val="F5CB5C"/>
                </a:solidFill>
                <a:latin typeface="Calibri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8D5BC"/>
                </a:solidFill>
                <a:latin typeface="Calibri"/>
              </a:rPr>
              <a:t>docs/API_CONTRACT.md  ·  docs/ENUMS.md  ·  docs/ERROR_CODES.md  ·  docs/openapi.yaml  ·  AI_CONTEXT.md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0584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 smtClean="0">
                <a:solidFill>
                  <a:srgbClr val="E8D5BC"/>
                </a:solidFill>
                <a:latin typeface="Calibri"/>
              </a:rPr>
              <a:t>💬</a:t>
            </a:r>
            <a:r>
              <a:rPr lang="vi-VN" sz="1200" b="0" dirty="0" smtClean="0">
                <a:solidFill>
                  <a:srgbClr val="E8D5BC"/>
                </a:solidFill>
                <a:latin typeface="Calibri"/>
              </a:rPr>
              <a:t>   </a:t>
            </a:r>
            <a:r>
              <a:rPr sz="1200" b="0" dirty="0" smtClean="0">
                <a:solidFill>
                  <a:srgbClr val="E8D5BC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E8D5BC"/>
                </a:solidFill>
                <a:latin typeface="Calibri"/>
              </a:rPr>
              <a:t>Hỗ</a:t>
            </a:r>
            <a:r>
              <a:rPr sz="1200" b="0" dirty="0">
                <a:solidFill>
                  <a:srgbClr val="E8D5BC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E8D5BC"/>
                </a:solidFill>
                <a:latin typeface="Calibri"/>
              </a:rPr>
              <a:t>trợ</a:t>
            </a:r>
            <a:r>
              <a:rPr sz="1200" b="0" dirty="0">
                <a:solidFill>
                  <a:srgbClr val="E8D5BC"/>
                </a:solidFill>
                <a:latin typeface="Calibri"/>
              </a:rPr>
              <a:t>: support@thriftit.vn  ·  /messages  ·  /notifications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05840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dirty="0" err="1">
                <a:solidFill>
                  <a:srgbClr val="E8D5BC"/>
                </a:solidFill>
                <a:latin typeface="Calibri"/>
              </a:rPr>
              <a:t>Phiên</a:t>
            </a:r>
            <a:r>
              <a:rPr sz="1100" b="0" dirty="0">
                <a:solidFill>
                  <a:srgbClr val="E8D5BC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E8D5BC"/>
                </a:solidFill>
                <a:latin typeface="Calibri"/>
              </a:rPr>
              <a:t>bản</a:t>
            </a:r>
            <a:r>
              <a:rPr sz="1100" b="0" dirty="0">
                <a:solidFill>
                  <a:srgbClr val="E8D5BC"/>
                </a:solidFill>
                <a:latin typeface="Calibri"/>
              </a:rPr>
              <a:t> 1.0  ·  </a:t>
            </a:r>
            <a:r>
              <a:rPr lang="vi-VN" sz="1100" dirty="0">
                <a:solidFill>
                  <a:srgbClr val="E8D5BC"/>
                </a:solidFill>
                <a:latin typeface="Calibri"/>
              </a:rPr>
              <a:t>27</a:t>
            </a:r>
            <a:r>
              <a:rPr sz="1100" b="0" dirty="0" smtClean="0">
                <a:solidFill>
                  <a:srgbClr val="E8D5BC"/>
                </a:solidFill>
                <a:latin typeface="Calibri"/>
              </a:rPr>
              <a:t>/</a:t>
            </a:r>
            <a:r>
              <a:rPr lang="vi-VN" sz="1100" b="0" smtClean="0">
                <a:solidFill>
                  <a:srgbClr val="E8D5BC"/>
                </a:solidFill>
                <a:latin typeface="Calibri"/>
              </a:rPr>
              <a:t>09</a:t>
            </a:r>
            <a:r>
              <a:rPr sz="1100" b="0" smtClean="0">
                <a:solidFill>
                  <a:srgbClr val="E8D5BC"/>
                </a:solidFill>
                <a:latin typeface="Calibri"/>
              </a:rPr>
              <a:t>/2026  </a:t>
            </a:r>
            <a:r>
              <a:rPr sz="1100" b="0">
                <a:solidFill>
                  <a:srgbClr val="E8D5BC"/>
                </a:solidFill>
                <a:latin typeface="Calibri"/>
              </a:rPr>
              <a:t>·  © 2026 thrift it! </a:t>
            </a:r>
            <a:r>
              <a:rPr sz="1100" b="0" dirty="0">
                <a:solidFill>
                  <a:srgbClr val="E8D5BC"/>
                </a:solidFill>
                <a:latin typeface="Calibri"/>
              </a:rPr>
              <a:t>Vietnam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3156</Words>
  <Application>Microsoft Office PowerPoint</Application>
  <PresentationFormat>Custom</PresentationFormat>
  <Paragraphs>505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2026-10-03T06:33:24Z</dcterms:modified>
  <cp:category/>
</cp:coreProperties>
</file>